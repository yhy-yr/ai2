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b1204514c94a6a" /><Relationship Type="http://schemas.openxmlformats.org/officeDocument/2006/relationships/extended-properties" Target="/docProps/app.xml" Id="R0b0df48b084c4849" /><Relationship Type="http://schemas.openxmlformats.org/officeDocument/2006/relationships/officeDocument" Target="/ppt/presentation.xml" Id="R118d15d138e24a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cc08fc59794a9e"/>
  </p:sldMasterIdLst>
  <p:notesMasterIdLst>
    <p:notesMasterId xmlns:r="http://schemas.openxmlformats.org/officeDocument/2006/relationships" r:id="R5d1de70642234c1a"/>
  </p:notesMasterIdLst>
  <p:sldIdLst>
    <p:sldId xmlns:r="http://schemas.openxmlformats.org/officeDocument/2006/relationships" id="256" r:id="Rf2790ee7027f4485"/>
    <p:sldId xmlns:r="http://schemas.openxmlformats.org/officeDocument/2006/relationships" id="257" r:id="Ra8e952d4197846b7"/>
    <p:sldId xmlns:r="http://schemas.openxmlformats.org/officeDocument/2006/relationships" id="258" r:id="Rb1b2917495cc4593"/>
    <p:sldId xmlns:r="http://schemas.openxmlformats.org/officeDocument/2006/relationships" id="259" r:id="Rf4cadca2e8f94440"/>
    <p:sldId xmlns:r="http://schemas.openxmlformats.org/officeDocument/2006/relationships" id="260" r:id="Rd167e5717aff409d"/>
    <p:sldId xmlns:r="http://schemas.openxmlformats.org/officeDocument/2006/relationships" id="261" r:id="Ra16b7800a95941e2"/>
    <p:sldId xmlns:r="http://schemas.openxmlformats.org/officeDocument/2006/relationships" id="262" r:id="R7af39d0c0e074d1c"/>
    <p:sldId xmlns:r="http://schemas.openxmlformats.org/officeDocument/2006/relationships" id="263" r:id="R6b7e2536c26e4af3"/>
    <p:sldId xmlns:r="http://schemas.openxmlformats.org/officeDocument/2006/relationships" id="264" r:id="R82bffe2eb0fe4b42"/>
    <p:sldId xmlns:r="http://schemas.openxmlformats.org/officeDocument/2006/relationships" id="265" r:id="Rb5e343fdf0bd4ba8"/>
    <p:sldId xmlns:r="http://schemas.openxmlformats.org/officeDocument/2006/relationships" id="266" r:id="Rbc1ce754258b41e7"/>
    <p:sldId xmlns:r="http://schemas.openxmlformats.org/officeDocument/2006/relationships" id="267" r:id="R33c2d382be384a4e"/>
    <p:sldId xmlns:r="http://schemas.openxmlformats.org/officeDocument/2006/relationships" id="268" r:id="R0226ed2b381346db"/>
    <p:sldId xmlns:r="http://schemas.openxmlformats.org/officeDocument/2006/relationships" id="269" r:id="R9a2cf6b74ddd4e37"/>
    <p:sldId xmlns:r="http://schemas.openxmlformats.org/officeDocument/2006/relationships" id="270" r:id="R5fc870f64a144335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9ebd110c844874" /><Relationship Type="http://schemas.openxmlformats.org/officeDocument/2006/relationships/slideMaster" Target="/ppt/slideMasters/slideMaster1.xml" Id="R3bcc08fc59794a9e" /><Relationship Type="http://schemas.openxmlformats.org/officeDocument/2006/relationships/notesMaster" Target="/ppt/notesMasters/notesMaster1.xml" Id="R5d1de70642234c1a" /><Relationship Type="http://schemas.openxmlformats.org/officeDocument/2006/relationships/presProps" Target="/ppt/presProps.xml" Id="R6f75f19d82964029" /><Relationship Type="http://schemas.openxmlformats.org/officeDocument/2006/relationships/tableStyles" Target="/ppt/tableStyles.xml" Id="R45da729239a040fe" /><Relationship Type="http://schemas.openxmlformats.org/officeDocument/2006/relationships/slide" Target="/ppt/slides/slide1.xml" Id="Rf2790ee7027f4485" /><Relationship Type="http://schemas.openxmlformats.org/officeDocument/2006/relationships/slide" Target="/ppt/slides/slide2.xml" Id="Ra8e952d4197846b7" /><Relationship Type="http://schemas.openxmlformats.org/officeDocument/2006/relationships/slide" Target="/ppt/slides/slide3.xml" Id="Rb1b2917495cc4593" /><Relationship Type="http://schemas.openxmlformats.org/officeDocument/2006/relationships/slide" Target="/ppt/slides/slide4.xml" Id="Rf4cadca2e8f94440" /><Relationship Type="http://schemas.openxmlformats.org/officeDocument/2006/relationships/slide" Target="/ppt/slides/slide5.xml" Id="Rd167e5717aff409d" /><Relationship Type="http://schemas.openxmlformats.org/officeDocument/2006/relationships/slide" Target="/ppt/slides/slide6.xml" Id="Ra16b7800a95941e2" /><Relationship Type="http://schemas.openxmlformats.org/officeDocument/2006/relationships/slide" Target="/ppt/slides/slide7.xml" Id="R7af39d0c0e074d1c" /><Relationship Type="http://schemas.openxmlformats.org/officeDocument/2006/relationships/slide" Target="/ppt/slides/slide8.xml" Id="R6b7e2536c26e4af3" /><Relationship Type="http://schemas.openxmlformats.org/officeDocument/2006/relationships/slide" Target="/ppt/slides/slide9.xml" Id="R82bffe2eb0fe4b42" /><Relationship Type="http://schemas.openxmlformats.org/officeDocument/2006/relationships/slide" Target="/ppt/slides/slide10.xml" Id="Rb5e343fdf0bd4ba8" /><Relationship Type="http://schemas.openxmlformats.org/officeDocument/2006/relationships/slide" Target="/ppt/slides/slide11.xml" Id="Rbc1ce754258b41e7" /><Relationship Type="http://schemas.openxmlformats.org/officeDocument/2006/relationships/slide" Target="/ppt/slides/slide12.xml" Id="R33c2d382be384a4e" /><Relationship Type="http://schemas.openxmlformats.org/officeDocument/2006/relationships/slide" Target="/ppt/slides/slide13.xml" Id="R0226ed2b381346db" /><Relationship Type="http://schemas.openxmlformats.org/officeDocument/2006/relationships/slide" Target="/ppt/slides/slide14.xml" Id="R9a2cf6b74ddd4e37" /><Relationship Type="http://schemas.openxmlformats.org/officeDocument/2006/relationships/slide" Target="/ppt/slides/slide15.xml" Id="R5fc870f64a1443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ad9e02a32e41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70ebc6d2f40b9" /><Relationship Type="http://schemas.openxmlformats.org/officeDocument/2006/relationships/notesMaster" Target="/ppt/notesMasters/notesMaster1.xml" Id="R56505b6856e94a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913a35bd6c4538" /><Relationship Type="http://schemas.openxmlformats.org/officeDocument/2006/relationships/notesMaster" Target="/ppt/notesMasters/notesMaster1.xml" Id="R6f5b92f43d8041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d3052774994007" /><Relationship Type="http://schemas.openxmlformats.org/officeDocument/2006/relationships/notesMaster" Target="/ppt/notesMasters/notesMaster1.xml" Id="R68f56540af764f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729628d9cb45c7" /><Relationship Type="http://schemas.openxmlformats.org/officeDocument/2006/relationships/notesMaster" Target="/ppt/notesMasters/notesMaster1.xml" Id="R50a2aff9578b48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ded24ebd9f4bcb" /><Relationship Type="http://schemas.openxmlformats.org/officeDocument/2006/relationships/notesMaster" Target="/ppt/notesMasters/notesMaster1.xml" Id="Rb497c3e3bc6d40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f9d440c94c4fca" /><Relationship Type="http://schemas.openxmlformats.org/officeDocument/2006/relationships/notesMaster" Target="/ppt/notesMasters/notesMaster1.xml" Id="R5c6e1348308b41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a3ceb4c0ac443a" /><Relationship Type="http://schemas.openxmlformats.org/officeDocument/2006/relationships/notesMaster" Target="/ppt/notesMasters/notesMaster1.xml" Id="Rd9aa818f52f14b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df1ce61ea34ccd" /><Relationship Type="http://schemas.openxmlformats.org/officeDocument/2006/relationships/notesMaster" Target="/ppt/notesMasters/notesMaster1.xml" Id="Rc6047f6c534f40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9a30f8ff024cbc" /><Relationship Type="http://schemas.openxmlformats.org/officeDocument/2006/relationships/notesMaster" Target="/ppt/notesMasters/notesMaster1.xml" Id="R8dff9a0ee0de4d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2e811a509b4834" /><Relationship Type="http://schemas.openxmlformats.org/officeDocument/2006/relationships/notesMaster" Target="/ppt/notesMasters/notesMaster1.xml" Id="Rc623b7f769dd42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12d6a9a01144af" /><Relationship Type="http://schemas.openxmlformats.org/officeDocument/2006/relationships/notesMaster" Target="/ppt/notesMasters/notesMaster1.xml" Id="Rcebc7f3fd84f4c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42d63e1c7d4c6d" /><Relationship Type="http://schemas.openxmlformats.org/officeDocument/2006/relationships/notesMaster" Target="/ppt/notesMasters/notesMaster1.xml" Id="R26d36455eeb343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7849ba7749476d" /><Relationship Type="http://schemas.openxmlformats.org/officeDocument/2006/relationships/notesMaster" Target="/ppt/notesMasters/notesMaster1.xml" Id="R49217776dccf47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abe9f01f264896" /><Relationship Type="http://schemas.openxmlformats.org/officeDocument/2006/relationships/notesMaster" Target="/ppt/notesMasters/notesMaster1.xml" Id="Rf01280aee4ac40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cf54e136c84813" /><Relationship Type="http://schemas.openxmlformats.org/officeDocument/2006/relationships/notesMaster" Target="/ppt/notesMasters/notesMaster1.xml" Id="Ref39de7fc5a145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7b0b91b564b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a1f7514a8147be" /><Relationship Type="http://schemas.openxmlformats.org/officeDocument/2006/relationships/slideLayout" Target="/ppt/slideLayouts/slideLayout1.xml" Id="Rde41c86456a645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41c86456a645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e284c43f543f9" /><Relationship Type="http://schemas.openxmlformats.org/officeDocument/2006/relationships/image" Target="/ppt/media/image.jpeg" Id="R0ea666f8ec294218" /><Relationship Type="http://schemas.openxmlformats.org/officeDocument/2006/relationships/image" Target="/ppt/media/image2.jpeg" Id="R304cfb19b1334fe5" /><Relationship Type="http://schemas.openxmlformats.org/officeDocument/2006/relationships/notesSlide" Target="/ppt/notesSlides/notesSlide1.xml" Id="Re33ed0b1276749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0792747754e40" /><Relationship Type="http://schemas.openxmlformats.org/officeDocument/2006/relationships/notesSlide" Target="/ppt/notesSlides/notesSlide2.xml" Id="Rcf7828ffff9946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5cd2554eb4178" /><Relationship Type="http://schemas.openxmlformats.org/officeDocument/2006/relationships/notesSlide" Target="/ppt/notesSlides/notesSlide3.xml" Id="R113485c08cf8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e60a384464f1f" /><Relationship Type="http://schemas.openxmlformats.org/officeDocument/2006/relationships/notesSlide" Target="/ppt/notesSlides/notesSlide4.xml" Id="R5e468f1f4e444d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a95cb5e714e06" /><Relationship Type="http://schemas.openxmlformats.org/officeDocument/2006/relationships/image" Target="/ppt/media/image3.jpeg" Id="Rd23dbb5c292a42fa" /><Relationship Type="http://schemas.openxmlformats.org/officeDocument/2006/relationships/notesSlide" Target="/ppt/notesSlides/notesSlide5.xml" Id="Rbb9e911c807b41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c5586caa04c21" /><Relationship Type="http://schemas.openxmlformats.org/officeDocument/2006/relationships/image" Target="/ppt/media/image4.jpeg" Id="R2012cefa3f2343a2" /><Relationship Type="http://schemas.openxmlformats.org/officeDocument/2006/relationships/notesSlide" Target="/ppt/notesSlides/notesSlide6.xml" Id="Ra5ddde1d690c4b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ae6080f754a71" /><Relationship Type="http://schemas.openxmlformats.org/officeDocument/2006/relationships/notesSlide" Target="/ppt/notesSlides/notesSlide7.xml" Id="R8a4800b4ab4443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d1c1eef5649f1" /><Relationship Type="http://schemas.openxmlformats.org/officeDocument/2006/relationships/image" Target="/ppt/media/image5.jpeg" Id="R92ceba93868a4d28" /><Relationship Type="http://schemas.openxmlformats.org/officeDocument/2006/relationships/notesSlide" Target="/ppt/notesSlides/notesSlide8.xml" Id="Rde97277821824f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b251a64ae423a" /><Relationship Type="http://schemas.openxmlformats.org/officeDocument/2006/relationships/image" Target="/ppt/media/image6.jpeg" Id="R27dd9dc8be2e4a2a" /><Relationship Type="http://schemas.openxmlformats.org/officeDocument/2006/relationships/notesSlide" Target="/ppt/notesSlides/notesSlide9.xml" Id="R8edf6603b42c4c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cfd5217b24a25" /><Relationship Type="http://schemas.openxmlformats.org/officeDocument/2006/relationships/notesSlide" Target="/ppt/notesSlides/notesSlide10.xml" Id="R2d8d479832bf44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eb00cbcaa4eb1" /><Relationship Type="http://schemas.openxmlformats.org/officeDocument/2006/relationships/image" Target="/ppt/media/image7.jpeg" Id="R868a6abbfcfb4c52" /><Relationship Type="http://schemas.openxmlformats.org/officeDocument/2006/relationships/notesSlide" Target="/ppt/notesSlides/notesSlide11.xml" Id="R1915ac94b6524d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aad0a1e474058" /><Relationship Type="http://schemas.openxmlformats.org/officeDocument/2006/relationships/notesSlide" Target="/ppt/notesSlides/notesSlide12.xml" Id="Re967c25d3fca46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91e64660840f5" /><Relationship Type="http://schemas.openxmlformats.org/officeDocument/2006/relationships/notesSlide" Target="/ppt/notesSlides/notesSlide13.xml" Id="R3c0e5876845347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3183d4aa24922" /><Relationship Type="http://schemas.openxmlformats.org/officeDocument/2006/relationships/notesSlide" Target="/ppt/notesSlides/notesSlide14.xml" Id="Ra27ea5c3d31a49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bc499efef470f" /><Relationship Type="http://schemas.openxmlformats.org/officeDocument/2006/relationships/image" Target="/ppt/media/image8.jpeg" Id="R6653f61db491401f" /><Relationship Type="http://schemas.openxmlformats.org/officeDocument/2006/relationships/image" Target="/ppt/media/image9.jpeg" Id="R8c011909ea564539" /><Relationship Type="http://schemas.openxmlformats.org/officeDocument/2006/relationships/notesSlide" Target="/ppt/notesSlides/notesSlide15.xml" Id="R97af5be6591e45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F0C5E8-D73C-4341-ABAA-6E216ECB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26306-11B3-47F0-87C1-70D69C89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97820-5EFF-4DE4-8118-FE2C89B9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109B1-928F-4107-861E-C1E2A2E1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952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SMART CLINICAL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92731-B709-4099-A3AB-58EF0D8D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00125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6390E-026D-4A39-B5D4-3DFC3C46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FF7F4"/>
                </a:solidFill>
                <a:latin typeface="Microsoft YaHei"/>
                <a:ea typeface="Microsoft YaHei"/>
                <a:cs typeface="Microsoft YaHei"/>
              </a:defRPr>
            </a:pPr>
            <a:r>
              <a:t>智慧医疗诊疗辅助系统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0CB72-D13F-4C9D-976C-1BAF5418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2D1"/>
                </a:solidFill>
                <a:latin typeface="Microsoft YaHei"/>
                <a:ea typeface="Microsoft YaHei"/>
                <a:cs typeface="Microsoft YaHei"/>
              </a:defRPr>
            </a:pPr>
            <a:r>
              <a:t>让一次就诊，从症状输入到结果查看，都有清晰记录。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15684-4247-4E13-906D-C82CE749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7CB6D-DC49-4B6E-91C2-2BEDA6DC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患者问诊  ×  医生接诊  ×  院内协同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C16FF-403E-4598-B0F0-20594073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90A4"/>
                </a:solidFill>
                <a:latin typeface="Microsoft YaHei"/>
                <a:ea typeface="Microsoft YaHei"/>
                <a:cs typeface="Microsoft YaHei"/>
              </a:defRPr>
            </a:pPr>
            <a:r>
              <a:t>课程设计答辩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C0F7F-67F8-4025-8DF1-F1E8F52C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619125"/>
            <a:ext cx="31623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666f8ec294218"/>
          <a:srcRect xmlns:a="http://schemas.openxmlformats.org/drawingml/2006/main" l="0" t="275" r="0" b="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685800"/>
            <a:ext cx="3028950" cy="1714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6997F-3AC3-476F-9CF3-7C7DFC2A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09850"/>
            <a:ext cx="26289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cfb19b1334fe5"/>
          <a:srcRect xmlns:a="http://schemas.openxmlformats.org/drawingml/2006/main" l="0" t="376" r="0" b="3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676525"/>
            <a:ext cx="2495550" cy="1409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86DAD-E6E9-4F04-823E-031C7D79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05300"/>
            <a:ext cx="1581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REAL PRODUCT UI</a:t>
            </a:r>
          </a:p>
        </p:txBody>
      </p:sp>
    </p:spTree>
    <p:extLst>
      <p:ext uri="{BB962C8B-B14F-4D97-AF65-F5344CB8AC3E}">
        <p14:creationId xmlns:p14="http://schemas.microsoft.com/office/powerpoint/2010/main" val="9967732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A78310-D421-4D38-99BD-13A3E602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32DE9-0728-46AA-9CF1-94AD7F66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WHY THIS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239FF-F827-485A-AA4B-6A8C2CEF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90E68-28FE-4D4C-9D6D-810456C0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基层诊疗的问题，不只是“有没有系统”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26018-E41B-489F-B9F9-F8D8E53F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更关键的是：患者、医生和院内数据是否围绕同一次就诊协同。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118EF-BC55-4267-BC64-354A3CC5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17C12-3620-45B0-909A-57ABF774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476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60B24-431A-4FBA-BE06-55AFDC4F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72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4453F-6C85-4C8E-9481-E7A71AA2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200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信息分散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19B29-3D59-4CE2-B36F-21B7EB22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症状、预约、病历和结果分布在不同环节，患者需要重复说明。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72FDC-C444-4166-9520-5F796945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52600"/>
            <a:ext cx="2476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2880B-707C-4AB4-AE0D-6727A5BE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14525"/>
            <a:ext cx="72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1017A-ADF1-4F10-936C-903ED841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33650"/>
            <a:ext cx="200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流程割裂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099F0-94F8-48B8-BD81-A1F299AD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19425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医生接诊后的病历、检查和处方缺少统一的完成状态。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081CD-5713-4319-8D13-57160877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52600"/>
            <a:ext cx="2476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360DB-AA7B-4BDD-9E2E-72C4196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14525"/>
            <a:ext cx="72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7E2BA-3AE8-4796-ABDC-97852144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200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结果难追踪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6DD61-A590-4E87-8A20-7C06F4E8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19425"/>
            <a:ext cx="204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患者不知道当前进度，管理员也难以快速看到院内业务状态。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57F1D-F78D-4291-949F-6EC1091B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问题定义</a:t>
            </a:r>
          </a:p>
        </p:txBody>
      </p:sp>
    </p:spTree>
    <p:extLst>
      <p:ext uri="{BB962C8B-B14F-4D97-AF65-F5344CB8AC3E}">
        <p14:creationId xmlns:p14="http://schemas.microsoft.com/office/powerpoint/2010/main" val="15431385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75C865-9AC2-416B-AD64-1A2ACA61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68291-8D98-42C9-BC1D-D8AA089A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B0F06-4187-43DD-BD77-9317D81F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CORE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A99C8-DFAF-44DF-81DB-CAB47B56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650AD-ED25-4D9B-BC3C-92FFE409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一次就诊，一条完整闭环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16873-C440-4100-910A-4E50703A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appointment_id 将患者动作、医生处理和最终结果串联起来。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39304-2A56-475C-A964-2BA3A239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C521D-DF58-486E-8A37-5A6EAEA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E920A-7845-4213-9DED-7F3D59AA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17B61-11F0-4490-9079-49F40FDE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症状输入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51A28-B208-410C-9B4F-E6770D48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B558A-F6C0-4DC3-AD26-C0AD8010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49AAA-99A8-4FDC-B99D-6CF5AAD9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9A39D-B099-45CC-9442-43447641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457A5-B88D-45DB-9361-6E87B321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AI预问诊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59653-ACFB-4932-9824-A3498D19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F06B0-95D3-4662-9E8B-48D736E7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AFAFC-D2B0-4AF4-9D9B-0C2307B2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7B9D1-47FC-4F01-BBE7-2BFB9173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7BCE4-4CDB-4397-885F-460C51BB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预约挂号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0AD08-DC40-4BF8-A430-4F3BFA63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BD980-E762-47E7-92AA-F3215C72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06AAA-F727-4249-A269-B43E12CB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BC20F-82A8-4340-8CD6-E64B99BD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1025E-1E9C-40FF-A405-22A22EF2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开始接诊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2D1874-A1E8-41D6-8080-3DB7ADB7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ABB80-17C1-4330-938C-8F5D0027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32994-D158-43D5-BFDD-A3A283B9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7103B2-7A4A-4CA8-87D0-79FE3487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6E2565-4B30-4943-B342-5605C857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电子病历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B29404-D2F4-4FA0-BD6C-42CCE1F2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98F80C-B277-456A-B8BA-0C7CF5FF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EB81E5-7F96-416A-9233-2D3D81E8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1A6A1C-8B36-4049-AD5C-E22F17B3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7056A2-DE47-4498-AF63-11CF5DD8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检查处方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C158CF-2D5F-412C-BABB-2A1C5EC2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B95786-852C-4CA7-9C05-6E05CD90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552700"/>
            <a:ext cx="66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71611C-F424-4847-AC9D-10CC8568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52650"/>
            <a:ext cx="10763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111CEB-86DD-4ED5-A9B7-79F1DEF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835B89-8A60-48B5-981B-34F1DAF6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622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结果查看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157CF4-C2CD-4CEE-A94D-20A9B69E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847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7C407F-941B-4A91-BB52-49F0ECF9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患者发起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C2442C-F68D-493D-973F-A4E753AD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62350"/>
            <a:ext cx="3143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医生处理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98B8D3-339D-474B-A072-A00D4572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562350"/>
            <a:ext cx="15144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患者查看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D88284-B814-432C-9B40-055F404C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8799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智慧医疗诊疗辅助系统</a:t>
            </a:r>
          </a:p>
        </p:txBody>
      </p:sp>
    </p:spTree>
    <p:extLst>
      <p:ext uri="{BB962C8B-B14F-4D97-AF65-F5344CB8AC3E}">
        <p14:creationId xmlns:p14="http://schemas.microsoft.com/office/powerpoint/2010/main" val="21000881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E46DB8-3E28-46BC-BE12-0DF0DB00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72099-6562-4B75-8350-33FEB137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ROLE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FDA71-7530-4190-9B8A-1FA5B053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B3D88-E169-4427-BDD7-2881084E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三类角色，共享同一条业务主线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4CA18-B559-46FA-A3A1-58A1CAFF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功能不同、权限不同，但数据围绕同一次预约保持一致。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E0D84-8E7D-479B-8E6B-3A8B5F8F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D1B5C-C6B3-45F8-B7FF-F3D4BA55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2D97C-E1CC-48B3-AC2F-524F7644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271B6-947E-4AE1-8F86-FF5D2BB4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C66ED-9AE2-4C39-BF3F-14DF03D5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21336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AI 预问诊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预约挂号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查看就诊进度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查看病历、处方与检查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6F5EB-C810-410C-A83E-E200FA15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4141D-6759-48DD-9546-B1CC12B1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954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3AE8E-DF8B-4B62-803B-0BBE52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898C3-DEF9-4BE7-8F40-D76AC816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9825"/>
            <a:ext cx="21336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管理本人预约</a:t>
            </a:r>
          </a:p>
          <a:p xmlns:a="http://schemas.openxmlformats.org/drawingml/2006/main">
            <a:pPr algn="l">
              <a:defRPr sz="105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生成并确认病历</a:t>
            </a:r>
          </a:p>
          <a:p xmlns:a="http://schemas.openxmlformats.org/drawingml/2006/main">
            <a:pPr algn="l">
              <a:defRPr sz="105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录入检查结果</a:t>
            </a:r>
          </a:p>
          <a:p xmlns:a="http://schemas.openxmlformats.org/drawingml/2006/main">
            <a:pPr algn="l">
              <a:defRPr sz="105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开具处方并完成接诊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DB845-4AC4-4C2F-8369-28652D1B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428C6-4865-47F7-88CD-96D70FA2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954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D49DD-2B1F-404A-AF8E-9C9F761E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管理员端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23028-6A10-4790-B10F-63AA959F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21336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维护患者与医生档案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维护科室与药品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查看全部业务记录</a:t>
            </a:r>
          </a:p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实时汇总院内数据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4BFCB-9A93-4C46-8B7E-C63D5E32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76725"/>
            <a:ext cx="1952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患者只能查看本人数据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48003-2B2D-49B4-BDFD-FA4242CB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76725"/>
            <a:ext cx="2057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医生处理分配给自己的预约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A4C6B-CCF8-4D6D-B260-E0398553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76725"/>
            <a:ext cx="1924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管理员负责院内维护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20A39-F418-4BB9-9AB0-67AF4057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角色与权限</a:t>
            </a:r>
          </a:p>
        </p:txBody>
      </p:sp>
    </p:spTree>
    <p:extLst>
      <p:ext uri="{BB962C8B-B14F-4D97-AF65-F5344CB8AC3E}">
        <p14:creationId xmlns:p14="http://schemas.microsoft.com/office/powerpoint/2010/main" val="11499432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C19D7D-5793-47CD-A358-B5CF8E99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F7245-0473-470D-843E-BA9683E9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3A89C-379A-44DC-BD37-D83D8B08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PATIENT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C5DA0-8B45-42F0-9F01-162B6628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C2C52-AB8F-4216-A5FD-0DB80C3E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患者端：从健康时间线发起一次就诊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001C5-9FF6-46F1-9F15-126947D6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入口围绕患者任务组织，不要求用户理解后台的数据结构。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A83F7-F567-43DD-B44B-D3A77DB4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EB113-865B-4F88-BA82-0012B204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610225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dbb5c292a42fa"/>
          <a:srcRect xmlns:a="http://schemas.openxmlformats.org/drawingml/2006/main" l="0" t="653" r="0" b="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62125"/>
            <a:ext cx="5476875" cy="30765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4CDAD-F619-487C-ADE6-D06AE01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E2DA6-0EBD-41BB-A0CB-632CCEFE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145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C954C-D4D2-4247-AEDF-7624CF3A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2133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任务导向入口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709BB-DB3E-4AD7-9300-E7C53270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问诊、预约、进度和结果统一呈现。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25293-2CFF-48F4-B4AE-7F4223D6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CEC70-4C2B-4FC5-9950-5B7DD67C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289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8683C-57CC-4F2B-ABE4-89D8233C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2133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个人数据边界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5C181-4AA0-420C-B391-F9840D60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813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病历、处方和检查仅展示本人记录。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3C943-B7DD-4B29-BC40-D834CE0D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90925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78B9-8E56-4E39-B019-B1CA2B34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433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9AA6C-299D-490E-AEBA-1ED91A6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2133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持续健康提醒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EA407-F405-4B12-870F-9FD25ED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将诊疗结果继续连接到复诊建议。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D7BCB-A913-4DA7-8A69-F2369390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8799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智慧医疗诊疗辅助系统</a:t>
            </a:r>
          </a:p>
        </p:txBody>
      </p:sp>
    </p:spTree>
    <p:extLst>
      <p:ext uri="{BB962C8B-B14F-4D97-AF65-F5344CB8AC3E}">
        <p14:creationId xmlns:p14="http://schemas.microsoft.com/office/powerpoint/2010/main" val="16689253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CB411-A038-44F0-AC88-6466D56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06357-86C1-40B2-BFBE-F11F5C16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AI ASSISTED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A9F0C-2308-43D0-AAB5-A6A98C86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BB535-B1B3-4BC3-8E83-9D17989A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AI 负责整理信息，而不是替代医生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BB9BB-1347-417B-A1C0-C57FA240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结构化输出帮助分诊；诊断和治疗仍由医生确认。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9E18A-661D-40A8-8966-20552C9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5DDFB-A3DF-47BE-B079-A34AD85E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5419725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2cefa3f2343a2"/>
          <a:srcRect xmlns:a="http://schemas.openxmlformats.org/drawingml/2006/main" l="0" t="616" r="0" b="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85925"/>
            <a:ext cx="5286375" cy="2971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658AE-BFD8-43D6-9E20-F37B2365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43075"/>
            <a:ext cx="2647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86654-3483-4160-8410-B1D1C122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383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3218E-ECCB-4C8E-A1E5-A4AFD9F3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192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症状摘要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3DE8A-C5B7-4344-9625-82397591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2647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8E8D8-4E66-43CB-BF9E-D1570488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7EA8C-F216-41C5-A1D3-B51DE777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建议科室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86EC8-BE01-4BCC-A174-6B89363D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57525"/>
            <a:ext cx="2647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2F88F-3273-497D-A374-9D0672DC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5277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E7989-DF81-4474-9185-19802D07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337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风险提示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80AA5-9BBE-4F8F-9FB4-CF616462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2647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1FBB9-7919-4BE4-8012-99E17092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BE33E-A470-45B7-B26C-63D1F8F9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就诊前建议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0373B-3C80-48B9-99FC-73921894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2647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 AI 内容仅供辅助参考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C874B-DD17-4A35-B1C3-11C44E72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AI 安全边界</a:t>
            </a:r>
          </a:p>
        </p:txBody>
      </p:sp>
    </p:spTree>
    <p:extLst>
      <p:ext uri="{BB962C8B-B14F-4D97-AF65-F5344CB8AC3E}">
        <p14:creationId xmlns:p14="http://schemas.microsoft.com/office/powerpoint/2010/main" val="17008029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EE180C-D732-47C5-B669-F1FC9A66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5AEB8-A985-4B62-8043-0E77BBC8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D7EBF-CFBE-4AB6-83F9-AC1387B9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APPOINTMENT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E451E-582A-4D0B-AF1C-CB32BAA2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A0D31-FA72-49E8-9D8F-047EA497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预约不是一张表，而是业务闭环的起点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EED6D-D1F2-459F-8D51-1A044CE9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患者完成五个输入，后端完成时间、医生和冲突校验。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D5BAA-2E56-4D3E-B9D0-F318DF8A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49046-563F-4576-BA30-FA8A3E4D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447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C431A-D71D-415B-A20A-41BF049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3B608-BF95-4E33-98D5-C4E8E6A9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科室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59E1B-655D-4A7B-A8F9-9A4586C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9D6"/>
                </a:solidFill>
                <a:latin typeface="Microsoft YaHei"/>
                <a:ea typeface="Microsoft YaHei"/>
                <a:cs typeface="Microsoft YaHei"/>
              </a:defRPr>
            </a:pPr>
            <a:r>
              <a:t>内科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746C4-A0A7-44CC-8F49-0DF059AD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1619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22D80-E8AE-4DB7-821B-8C7EF503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1447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AE835-BCB5-4A2C-BA91-6B364E56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14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440FD-FC53-45F3-952D-A221B00E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098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A9DE7-1332-48A6-967A-FB563ADC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43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9D6"/>
                </a:solidFill>
                <a:latin typeface="Microsoft YaHei"/>
                <a:ea typeface="Microsoft YaHei"/>
                <a:cs typeface="Microsoft YaHei"/>
              </a:defRPr>
            </a:pPr>
            <a:r>
              <a:t>张医生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F0001-7157-4A04-9C90-9D2B3E4A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1619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F9279-B217-4087-A76D-0A7201B2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81200"/>
            <a:ext cx="1447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DFDB1-97C5-471F-A235-175F8CFF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14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9A2B5-9087-4B72-A788-426F8A69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98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日期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CAAD8-C5A3-4B97-960C-A94C313C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43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9D6"/>
                </a:solidFill>
                <a:latin typeface="Microsoft YaHei"/>
                <a:ea typeface="Microsoft YaHei"/>
                <a:cs typeface="Microsoft YaHei"/>
              </a:defRPr>
            </a:pPr>
            <a:r>
              <a:t>至少明天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8DB21-0AE7-4C9B-A7ED-515EC5D7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409825"/>
            <a:ext cx="1619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4FB076-00F7-49C9-AE37-10740E73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1447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912E40-0101-438B-B7BE-AF9F0152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302CA-137A-4CC5-94A5-A167473C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098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时段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FD1516-0AD4-4488-9E73-E85F7AD9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43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9D6"/>
                </a:solidFill>
                <a:latin typeface="Microsoft YaHei"/>
                <a:ea typeface="Microsoft YaHei"/>
                <a:cs typeface="Microsoft YaHei"/>
              </a:defRPr>
            </a:pPr>
            <a:r>
              <a:t>09:00–10:00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38B829-948B-496C-9A9D-EBFE4CD1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09825"/>
            <a:ext cx="1619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E7DF04-4A49-48C5-9172-603902EB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81200"/>
            <a:ext cx="1447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817A4F-7A04-4317-88E8-A228E0DC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DB1A2B-A25C-4703-934D-4DAA0AF7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098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症状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31FDA0-C0DD-4FBA-9E0B-89556E36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9D6"/>
                </a:solidFill>
                <a:latin typeface="Microsoft YaHei"/>
                <a:ea typeface="Microsoft YaHei"/>
                <a:cs typeface="Microsoft YaHei"/>
              </a:defRPr>
            </a:pPr>
            <a:r>
              <a:t>AI 结果自动带入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980121-6128-45A9-8E07-2F90017D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924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0">
            <a:solidFill>
              <a:srgbClr val="102F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B4D530-4945-4428-88E1-46FA3687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562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SERVER VALIDATION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88EBE1-5217-4215-B49B-9C019A82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695700"/>
            <a:ext cx="571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8"/>
          </a:solidFill>
          <a:ln xmlns:a="http://schemas.openxmlformats.org/drawingml/2006/main" w="0">
            <a:solidFill>
              <a:srgbClr val="102F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8F1"/>
                </a:solidFill>
                <a:latin typeface="Microsoft YaHei"/>
                <a:ea typeface="Microsoft YaHei"/>
                <a:cs typeface="Microsoft YaHei"/>
              </a:defRPr>
            </a:pPr>
            <a:r>
              <a:t>过去日期禁止预约   ·   同一医生同一时段禁止重复预约   ·   无效医生与科室不能提交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FA0549-2336-4E18-BD80-41786D7E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8799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智慧医疗诊疗辅助系统</a:t>
            </a:r>
          </a:p>
        </p:txBody>
      </p:sp>
    </p:spTree>
    <p:extLst>
      <p:ext uri="{BB962C8B-B14F-4D97-AF65-F5344CB8AC3E}">
        <p14:creationId xmlns:p14="http://schemas.microsoft.com/office/powerpoint/2010/main" val="16972702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3CF8B-6303-48DD-A42D-219AA487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721FC-A7B3-46C4-A80D-55D46C0F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DOCTOR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537A1-D534-42B5-870A-F91715D1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CB8DD-C206-4713-AFF8-8D4E6A23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医生端：当前患者始终是工作台主角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8110B-1A3C-4E1A-B631-5FE18627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待接诊、接诊中和已完成状态让医生明确下一步操作。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2B22A-F737-46D7-BB52-B9CA200B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B410A-6366-4213-B08B-D08D4D78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6038850" cy="3457575"/>
          </a:xfrm>
          <a:prstGeom xmlns:a="http://schemas.openxmlformats.org/drawingml/2006/main" prst="roundRect">
            <a:avLst>
              <a:gd name="adj" fmla="val 2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eba93868a4d28"/>
          <a:srcRect xmlns:a="http://schemas.openxmlformats.org/drawingml/2006/main" l="0" t="551" r="0" b="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85925"/>
            <a:ext cx="5905500" cy="33242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E503B-9CB8-4778-8135-D724E512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85925"/>
            <a:ext cx="2038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81229-FB45-49E1-9B3B-5F14F144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383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F9D5C-E35B-4331-8223-C3DDBA6E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431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当前接诊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2B8B2-A841-44F9-928D-40E3AA32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患者、症状、日期与时段集中呈现。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AB121-03DE-4977-A637-E8BF20E0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95575"/>
            <a:ext cx="2038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81CD3-3E4E-44BF-9D3D-2E8AAFA5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479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60C7C-6B99-4E00-92E7-2AE91E52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闭环进度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5A595-A8AD-4B5F-98FF-82031ACF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AI、病历、检查、处方逐项确认。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8A227-3B5F-4F6A-AF84-0BF939E7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05225"/>
            <a:ext cx="2038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8794A-31F2-4091-89CC-0AE0F536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79356-C15D-4680-BB06-63CCFD88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风险提示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0DDA1-95B9-4BBC-9151-325D05AA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00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高风险信息保持突出，但不替代判断。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B7717-91FF-460F-9F54-409F35C7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医生接诊工作台</a:t>
            </a:r>
          </a:p>
        </p:txBody>
      </p:sp>
    </p:spTree>
    <p:extLst>
      <p:ext uri="{BB962C8B-B14F-4D97-AF65-F5344CB8AC3E}">
        <p14:creationId xmlns:p14="http://schemas.microsoft.com/office/powerpoint/2010/main" val="10454657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E27892-7A8A-4836-BD7F-3190C60D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D30ED-5EC8-415C-8C90-90C0B32B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8C715-75D7-4382-A66B-11EACEF7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CLINICAL CLOSURE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40522-528E-4F57-A91D-B36B8109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6BCAE-F187-42D1-8954-8851B914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接诊完成之前，四类资料必须形成闭环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CDB1B-C424-47A7-8DEF-40CCADAD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系统用业务完整性校验，避免产生缺项的就诊记录。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9792E-11AE-485A-A8DD-FD276E5F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5614C-FF5F-4596-BD37-067CA95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4676775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d9dc8be2e4a2a"/>
          <a:srcRect xmlns:a="http://schemas.openxmlformats.org/drawingml/2006/main" l="0" t="643" r="0" b="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62125"/>
            <a:ext cx="4543425" cy="2552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6C712-87FB-4D0E-B85E-3F08750A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62125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F7DB1-87FF-4027-BD44-F1F854D5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38325"/>
            <a:ext cx="1295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AI 问诊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213FA-06E1-470B-953C-BA177040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85975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症状与风险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CB8FC-902D-4E9C-8C24-8F01AFAF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62125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F525E-AC27-4B40-8FD8-003667DE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38325"/>
            <a:ext cx="1295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电子病历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DCC06-9F78-46D3-ABB6-D1A939F0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85975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0A4CC-0CDA-459D-936D-90012BAA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23325-07D4-4F2F-AE13-B08B14B8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71800"/>
            <a:ext cx="1295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1F5B2-0E2D-42BD-A8E8-F37EC210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结论录入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ED51A-9390-42AC-B3FB-7500C9F1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01731-FE74-41C4-A43D-1B61BC12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71800"/>
            <a:ext cx="1295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处方记录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04B79-ECF5-45BC-958E-731CBD76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33AC5-F179-447C-961A-CABC7C3D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24325"/>
            <a:ext cx="3143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12699-EA16-4D49-89F7-8BE65496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0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四项完成  →  允许结束接诊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80A8F-69EE-4C8C-922B-150A626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8799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智慧医疗诊疗辅助系统</a:t>
            </a:r>
          </a:p>
        </p:txBody>
      </p:sp>
    </p:spTree>
    <p:extLst>
      <p:ext uri="{BB962C8B-B14F-4D97-AF65-F5344CB8AC3E}">
        <p14:creationId xmlns:p14="http://schemas.microsoft.com/office/powerpoint/2010/main" val="5196563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96A28D-EBDA-49EB-8304-D536AF72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D607E-E414-4CC9-A0B2-ACE2981D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RESULT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87BD7-4363-4385-A8E1-1EAED7F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B1193-2CA9-41D4-B6E2-7E45C9C1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接诊结束后，患者看到的是一条结果时间线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B7368-73DA-4E1E-8A8E-8CD2D461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同一份医生数据直接进入患者视图，不需要再次手工整理。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71CA3-60B8-4851-94C7-AAE20494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390DF-D291-48A6-8650-665AED85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723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C"/>
          </a:solidFill>
          <a:ln xmlns:a="http://schemas.openxmlformats.org/drawingml/2006/main" w="0">
            <a:solidFill>
              <a:srgbClr val="D9E5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1A8E4-6458-4170-8FB2-4F4F3EEA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526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F4114-3930-41F8-BF3D-9C625B4A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A1D27-E884-49B2-A539-B2725FF3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05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FEB86-D865-45C6-80AD-20167703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DF2B0-841E-402A-92E6-CB1E6EC5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526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99771-A02B-4890-89E5-C4CD5FA7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A65F1-F2C7-453C-AB18-86CB8274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05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病历可查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C7021-B503-4EAB-904B-BE4A4E11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004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BA304-291B-41F0-A590-1D9F04DD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526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DDF26-BF6E-4219-8C09-AC420EEA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574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2D9D8-C6CF-4E92-B85C-2267642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05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检查可查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A8582-78F3-4400-BF35-FDC3BC23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004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AC95A-11B2-410B-A030-3CC880D8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526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F777E-34A3-40A4-8FAE-2D2878DA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574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A9980-4840-4C66-BCA4-88165E07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05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处方可查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90C8F-CA34-46C5-BFA2-3E11AFF2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004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用法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EFF1F-D848-44BE-9B03-306070EE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526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34519-B61A-4F66-92DF-D1DC79E4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574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48B2F-E43E-43B6-8D6E-31EF0B76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05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复诊提醒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E7B16C-1A7E-4278-B34F-12FC1125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04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后续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68469-29E4-4212-9EC7-2739533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822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8B522C-A4EC-4B2E-877B-106FEFA8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777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预约、病历、检查和处方不是四个孤立页面，而是同一次就诊的连续结果。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998FF-D42A-43F6-BF31-FE0D6E6D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患者结果交付</a:t>
            </a:r>
          </a:p>
        </p:txBody>
      </p:sp>
    </p:spTree>
    <p:extLst>
      <p:ext uri="{BB962C8B-B14F-4D97-AF65-F5344CB8AC3E}">
        <p14:creationId xmlns:p14="http://schemas.microsoft.com/office/powerpoint/2010/main" val="1250850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9D3B40-07D9-4039-BC4E-F46A7D19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06A9C-B448-49AF-88D4-63B56FF5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28FE0-372F-4DD5-AD8C-9E4C878A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BD799-A7F9-4F18-B997-C2F755C1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9F319-9D79-49E4-AF17-46397678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管理员端：实时数据，而不是展示数字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19D83-7419-40BA-A99C-4D9ACEBC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首页统计和业务动态直接来源于当前预约、病历、检查与库存。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99295-C4D3-465F-97C4-7EA5502E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56A51-AC71-4F36-89C2-2ABA7A2F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6038850" cy="3457575"/>
          </a:xfrm>
          <a:prstGeom xmlns:a="http://schemas.openxmlformats.org/drawingml/2006/main" prst="roundRect">
            <a:avLst>
              <a:gd name="adj" fmla="val 2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a6abbfcfb4c52"/>
          <a:srcRect xmlns:a="http://schemas.openxmlformats.org/drawingml/2006/main" l="0" t="551" r="0" b="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24025"/>
            <a:ext cx="5905500" cy="33242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A7F83-D958-4F1F-8961-98493C14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24025"/>
            <a:ext cx="2038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08DFD-CF05-4AAB-922C-3F186C53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764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6A936-A112-487A-89AA-182532A5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实时汇总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C1E44-C699-4EC2-98A3-8BDDF45C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288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预约、接诊、病历和检查同步更新。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2A82C-749A-47CE-9C4F-B5CB2552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7475"/>
            <a:ext cx="2038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C16B2-E219-4CF6-8ECE-6088A63F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98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605C1-C1A9-4289-BE74-E6B6F4A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1465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F23B6-E185-4BA9-9F4F-F8236555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623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患者、医生、科室和药品集中维护。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FE05E-678D-4851-B41D-8FB8DC24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90925"/>
            <a:ext cx="2038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5183A-28F1-4677-94DE-C18BEF50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433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89C39-5A55-4A44-870F-F3E05F54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异常关注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18368-C42B-4B12-9C88-D250CD85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t>待处理预约和低库存优先展示。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30DDD-88D8-454F-B032-5D5B60D9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8799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智慧医疗诊疗辅助系统</a:t>
            </a:r>
          </a:p>
        </p:txBody>
      </p:sp>
    </p:spTree>
    <p:extLst>
      <p:ext uri="{BB962C8B-B14F-4D97-AF65-F5344CB8AC3E}">
        <p14:creationId xmlns:p14="http://schemas.microsoft.com/office/powerpoint/2010/main" val="1884731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E769E6-5B7B-4D49-94D1-4F2E8FF7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CA8E8-E6DD-439A-AD7D-F72B499C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6B889-4EBB-4D47-87C0-95BB20D2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7E60C-F894-4E48-A675-6332D003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架构保持简单，但职责边界清楚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5D249-41E0-4EF9-9E59-61AC0E8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单体后端降低课程演示风险，前后端仍通过统一 API 解耦。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9644F-67B8-45F5-9741-F27C9BA9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5A5B9-B157-40AB-B4DE-3611A73E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FFCF5-7BFD-47AA-9679-F919F78E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+ Vite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F36CE-EC9F-4D10-B8ED-E985199C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页面与组件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AE78F-DEC0-4E94-9E8A-6459FE3F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71C99-624A-4195-A499-CFCBE400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Pinia + 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48270-68FD-49F6-BC27-38A3A56F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登录态与角色守卫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D264F-FD38-4686-98B2-2976BAAE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431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9C298-B41A-466E-98B7-CB79BD25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193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Spring Boot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2629E-9142-4474-86D3-4A9D4025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6695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66C4D-677A-4323-9005-C7693AF4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5752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57A2C-58B2-40F5-8391-DBF5862A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3372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63062-230D-4044-A4F9-34036931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81375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A331C-5A7F-4830-97D8-75403FDD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6179D-D9AF-4768-B36B-BF8379AD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193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JdbcTemplate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BE0BB-82C1-4AAA-9321-EE159C11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显式 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B995E-7D64-4E0C-8C36-150A7A86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575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59E04-E9D8-4D86-8A92-B6A33A38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3372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MySQL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1CDE6-988E-4B28-B8CB-10B0F1A6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81375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medical_system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73C9C8-539F-447D-9064-74DFDFFD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43100"/>
            <a:ext cx="1181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3A436-FA56-4BEE-B83B-CF536BAF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99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DeepSeek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23EEF-1A7D-47A2-852F-878FF2C9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在线优先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849932-47AD-4C4A-B2E8-96EC2834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57525"/>
            <a:ext cx="1181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02860D-BC12-4909-909D-C86A82E0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33725"/>
            <a:ext cx="990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本地规则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CD013B-BEED-4A87-9D7C-4829EBEA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81375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失败回退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C230FF-ADA8-476E-ADC2-7E529740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622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834196-1E3A-44DA-9D58-8DBAA86B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857E71-5702-4CF2-A2B2-AC37C31D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F2F47-1D57-491A-A614-F14D548B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76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518790-FF3B-4DB8-8512-DF5F73F5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76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723F9F-3520-4C03-93F3-934D1D88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76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F7CC31-7C4E-4CC8-9C09-0C96B689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481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X-Session-Token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3D17E8-806C-47EE-86B2-0889DA0A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48150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统一响应 code / message / 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180943-30A8-4E75-8D82-983BBDBD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技术架构</a:t>
            </a:r>
          </a:p>
        </p:txBody>
      </p:sp>
    </p:spTree>
    <p:extLst>
      <p:ext uri="{BB962C8B-B14F-4D97-AF65-F5344CB8AC3E}">
        <p14:creationId xmlns:p14="http://schemas.microsoft.com/office/powerpoint/2010/main" val="12679571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A60D9A-06FD-45A1-87F1-0F158040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D5D30-8ADD-4293-A122-D3FBC5FE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8B31A-A6C1-4CBE-BB0D-1CBE56B1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DATA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EC0AF-5B7B-4A7C-9216-09503EF9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CF8A7-42F1-45E6-8EBB-52AB5B25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appointment_id 是一次就诊的数据主线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203C9-5E19-4B09-85CB-39916DA9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D1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预约记录位于中心，向上关联角色，向下关联所有诊疗结果。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9A9ED-6B86-4E80-AA49-D07C1F8E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64087-33A9-4460-BC9B-F6A76652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2ADA5-1AC1-4A5A-B59F-C71C7F74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1381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患者 patient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9E8C2-654B-4290-8E37-04FF34F9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419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发起预约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B8FB4-D44B-4A5F-B54F-80357E71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5D55B-7A4A-409F-B252-6522AC59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381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 doctor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ADA27-797B-43DB-AC45-F775B94B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419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负责接诊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04C97-084E-40EE-9CE5-E62551AF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90775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B4A90-B74D-42AD-903D-0C3D35F2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6697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预约 appointment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1D6EA-09F5-44E9-86C6-61A76754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14625"/>
            <a:ext cx="1657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appointment_id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3C6AE-D7F6-4E0E-9F94-FBB36C66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47825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8F66F-0A23-4990-BA2B-7D9096CD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2402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AI 问诊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773E3-0890-4F6E-A250-53FDBC83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71675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consultation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E9135-B6D6-40A5-B438-706C0DCA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86025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B2585-A354-4D2A-A686-8FBEEA36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6222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电子病历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DC8375-E1B5-46D2-9FBC-DF29AE3A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9875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medical_record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55A75-227C-4317-9418-E2D9D3E2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23A70-6EBA-496C-8751-DAC591B8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0042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73D83-7B44-4816-BE72-04DDA4D3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48075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examination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73115-25A7-4773-8909-178383B5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62425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4F75D8-91AC-4EEB-8FE3-A9915DD1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38625"/>
            <a:ext cx="1314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处方记录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025CD-7428-4D07-A9F1-F6D41FCC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86275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5A"/>
          </a:solidFill>
          <a:ln xmlns:a="http://schemas.openxmlformats.org/drawingml/2006/main" w="0">
            <a:solidFill>
              <a:srgbClr val="1740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D9E5"/>
                </a:solidFill>
                <a:latin typeface="Microsoft YaHei"/>
                <a:ea typeface="Microsoft YaHei"/>
                <a:cs typeface="Microsoft YaHei"/>
              </a:defRPr>
            </a:pPr>
            <a:r>
              <a:t>prescription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89DDEA-8063-4F5B-8114-3969A836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324100"/>
            <a:ext cx="1457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3D6A6C-3991-4BE1-8CDE-A46613C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514725"/>
            <a:ext cx="1457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2B188B-4C5C-430F-8509-53DCEF92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145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BA399E-3E70-488B-B075-2D1DEFA6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67025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FEA1D9-19D2-4AEC-BFA7-50C79525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05225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9BEDF4-1DCA-4FA7-B2A5-11B5A090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43425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3C566A-85BD-45B5-B6DE-6B5E2630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90975"/>
            <a:ext cx="3286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同一个 ID，让三个角色看到同一份业务事实。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13D35E-84BE-49D4-93E2-280D5337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8799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智慧医疗诊疗辅助系统</a:t>
            </a:r>
          </a:p>
        </p:txBody>
      </p:sp>
    </p:spTree>
    <p:extLst>
      <p:ext uri="{BB962C8B-B14F-4D97-AF65-F5344CB8AC3E}">
        <p14:creationId xmlns:p14="http://schemas.microsoft.com/office/powerpoint/2010/main" val="3208772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E33592-A09B-4B96-8310-44E81B45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CB56D-5D44-4FB8-B436-6ED481F9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1C19D-F69F-4C7B-850D-A309D48C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A0B1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628C7-B5AB-41AC-BAEC-D1E19769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演示稳定性来自明确的失败处理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DFBA4-C73C-414B-8D14-22EEA8FD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关键流程不是“正常时能运行”，而是异常时仍然有确定结果。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89DEC-426B-4868-B018-127C87B0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BF2D8-355A-4DBA-A119-B7D6D879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905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52762-8E5E-4EFE-8562-223F069C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E92B3-0029-4419-89F3-D06CD587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角色守卫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B322D-CB59-43CF-BECA-A779B09A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19325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solidFill>
              <a:srgbClr val="EAF7F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错误角色访问时回到自己的工作区。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F14B5-2068-4698-A230-0C99BC72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3905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BD1C5-0EC7-4343-9891-69A68D71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8595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DF78E-D1A0-48BD-BED9-11BFC934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573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时段冲突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954EF-0DA3-4AA2-97D2-24AA21F4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19325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医生、日期和时段重复时拒绝预约。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87898-1F0F-4D4A-9F4E-AD2CB06A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3905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22596-48B8-4681-89EF-826E4AC5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38DBD-B099-465D-94D6-CBAEB55C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完整性门槛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F5F43-55FA-4661-B88C-6BD41EBA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9975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3"/>
          </a:solidFill>
          <a:ln xmlns:a="http://schemas.openxmlformats.org/drawingml/2006/main" w="0">
            <a:solidFill>
              <a:srgbClr val="FFF0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病历、检查和处方未完成时不能结束接诊。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E1856-298E-402C-91BD-093CA229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3905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15026-679A-4E61-84A8-E6FE3972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6600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312B9-6FEA-489A-BFE4-9AE462D3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4802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8"/>
                </a:solidFill>
                <a:latin typeface="Microsoft YaHei"/>
                <a:ea typeface="Microsoft YaHei"/>
                <a:cs typeface="Microsoft YaHei"/>
              </a:defRPr>
            </a:pPr>
            <a:r>
              <a:t>AI 本地回退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59DC0-CC93-4598-8851-2B66E0E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9975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solidFill>
              <a:srgbClr val="E8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C8F"/>
                </a:solidFill>
                <a:latin typeface="Microsoft YaHei"/>
                <a:ea typeface="Microsoft YaHei"/>
                <a:cs typeface="Microsoft YaHei"/>
              </a:defRPr>
            </a:pPr>
            <a:r>
              <a:t>在线调用失败时使用本地规则继续分诊。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DA131-5249-4E70-A659-A82A72CC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07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C"/>
          </a:solidFill>
          <a:ln xmlns:a="http://schemas.openxmlformats.org/drawingml/2006/main" w="0">
            <a:solidFill>
              <a:srgbClr val="D9E5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F288AB-9390-4F04-844B-DC3379C6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4F8F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1A3B1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稳定性设计</a:t>
            </a:r>
          </a:p>
        </p:txBody>
      </p:sp>
    </p:spTree>
    <p:extLst>
      <p:ext uri="{BB962C8B-B14F-4D97-AF65-F5344CB8AC3E}">
        <p14:creationId xmlns:p14="http://schemas.microsoft.com/office/powerpoint/2010/main" val="9321702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6141E5-DB43-475F-9F04-75CFEECE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4E680-912A-410B-A949-CA7B6CEF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18873-BAB8-4AD4-9A8F-DAD7FDBF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solidFill>
              <a:srgbClr val="1236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621B3-BDCF-42F4-8090-958BDB8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7275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一条业务主线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2581F-A252-4C2E-802A-A541770E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9725"/>
            <a:ext cx="657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F6F2"/>
                </a:solidFill>
                <a:latin typeface="Microsoft YaHei"/>
                <a:ea typeface="Microsoft YaHei"/>
                <a:cs typeface="Microsoft YaHei"/>
              </a:defRPr>
            </a:pPr>
            <a:r>
              <a:t>让三类角色完成一次可追踪的诊疗闭环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FA045-7375-4A0E-94DF-AB5B4EB3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4600"/>
            <a:ext cx="1695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F3F2C-566B-43ED-A171-B82F4966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CD905-C556-4747-B774-6F62B658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次完整就诊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2287A-591D-4456-ACA6-277A2E2C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14600"/>
            <a:ext cx="1695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49A94-51BF-4660-B1A2-6DD88758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3B8A6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BA269-19CC-4A36-9385-A5ED3E30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3372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B50"/>
          </a:solidFill>
          <a:ln xmlns:a="http://schemas.openxmlformats.org/drawingml/2006/main" w="0">
            <a:solidFill>
              <a:srgbClr val="0D4B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类协同角色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FAEA2-8D45-4A84-9CAB-1AB18272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1695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FCC38-7A58-464D-A67F-BACC41C3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56FFB-D4AC-4F0A-82EE-29CB8A57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3372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0"/>
          </a:solidFill>
          <a:ln xmlns:a="http://schemas.openxmlformats.org/drawingml/2006/main" w="0">
            <a:solidFill>
              <a:srgbClr val="0B25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类诊疗资料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4B151-9DE7-44D7-875A-ED51C967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809625"/>
            <a:ext cx="22288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3f61db491401f"/>
          <a:srcRect xmlns:a="http://schemas.openxmlformats.org/drawingml/2006/main" l="0" t="486" r="0" b="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76300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0978C-8E84-408A-A29A-8E40AAAC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66950"/>
            <a:ext cx="22288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11909ea564539"/>
          <a:srcRect xmlns:a="http://schemas.openxmlformats.org/drawingml/2006/main" l="0" t="486" r="0" b="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33362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3E4CA-332D-4F32-9CED-4E3F65C5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0025"/>
            <a:ext cx="3143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A2E"/>
                </a:solidFill>
                <a:latin typeface="Microsoft YaHei"/>
                <a:ea typeface="Microsoft YaHei"/>
                <a:cs typeface="Microsoft YaHei"/>
              </a:defRPr>
            </a:pPr>
            <a:r>
              <a:t>NEXT · 现场演示完整流程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C7D84-C89D-44A3-AF97-BB84CAEC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71975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5D3"/>
                </a:solidFill>
                <a:latin typeface="Microsoft YaHei"/>
                <a:ea typeface="Microsoft YaHei"/>
                <a:cs typeface="Microsoft YaHei"/>
              </a:defRPr>
            </a:pPr>
            <a:r>
              <a:t>AI 预问诊 → 预约 → 接诊 → 病历 / 检查 / 处方 → 患者查看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9DE43-557C-435A-AF21-0FED8C1A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E"/>
          </a:solidFill>
          <a:ln xmlns:a="http://schemas.openxmlformats.org/drawingml/2006/main" w="0">
            <a:solidFill>
              <a:srgbClr val="071A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8799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LocalCare AI · 课程设计答辩</a:t>
            </a:r>
          </a:p>
        </p:txBody>
      </p:sp>
    </p:spTree>
    <p:extLst>
      <p:ext uri="{BB962C8B-B14F-4D97-AF65-F5344CB8AC3E}">
        <p14:creationId xmlns:p14="http://schemas.microsoft.com/office/powerpoint/2010/main" val="930710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2026-06-19T12:46:24.0200000Z</dcterms:created>
  <dcterms:modified xsi:type="dcterms:W3CDTF">2026-06-19T12:46:24.0200000Z</dcterms:modified>
</coreProperties>
</file>