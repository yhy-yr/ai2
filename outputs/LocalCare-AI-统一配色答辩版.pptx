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c504476c346ea" /><Relationship Type="http://schemas.openxmlformats.org/officeDocument/2006/relationships/extended-properties" Target="/docProps/app.xml" Id="R69eabafecee0487b" /><Relationship Type="http://schemas.openxmlformats.org/officeDocument/2006/relationships/officeDocument" Target="/ppt/presentation.xml" Id="Rcc639d046755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5326642414782"/>
  </p:sldMasterIdLst>
  <p:notesMasterIdLst>
    <p:notesMasterId xmlns:r="http://schemas.openxmlformats.org/officeDocument/2006/relationships" r:id="R93f22fc750e1462d"/>
  </p:notesMasterIdLst>
  <p:sldIdLst>
    <p:sldId xmlns:r="http://schemas.openxmlformats.org/officeDocument/2006/relationships" id="256" r:id="R0b5506ca00ec46d2"/>
    <p:sldId xmlns:r="http://schemas.openxmlformats.org/officeDocument/2006/relationships" id="257" r:id="Rbae3060c05184e5f"/>
    <p:sldId xmlns:r="http://schemas.openxmlformats.org/officeDocument/2006/relationships" id="258" r:id="R779bad2556ad4cee"/>
    <p:sldId xmlns:r="http://schemas.openxmlformats.org/officeDocument/2006/relationships" id="259" r:id="Rdc705b581f974b77"/>
    <p:sldId xmlns:r="http://schemas.openxmlformats.org/officeDocument/2006/relationships" id="260" r:id="Rbd6a39b45deb4756"/>
    <p:sldId xmlns:r="http://schemas.openxmlformats.org/officeDocument/2006/relationships" id="261" r:id="R50963fbcd9d542e4"/>
    <p:sldId xmlns:r="http://schemas.openxmlformats.org/officeDocument/2006/relationships" id="262" r:id="Rfcad3dbb4ea74b44"/>
    <p:sldId xmlns:r="http://schemas.openxmlformats.org/officeDocument/2006/relationships" id="263" r:id="R573693532cf44102"/>
    <p:sldId xmlns:r="http://schemas.openxmlformats.org/officeDocument/2006/relationships" id="264" r:id="R8682012e97474658"/>
    <p:sldId xmlns:r="http://schemas.openxmlformats.org/officeDocument/2006/relationships" id="265" r:id="Rf7b5c585fa7c432f"/>
    <p:sldId xmlns:r="http://schemas.openxmlformats.org/officeDocument/2006/relationships" id="266" r:id="R739f133cd6a54eea"/>
    <p:sldId xmlns:r="http://schemas.openxmlformats.org/officeDocument/2006/relationships" id="267" r:id="Rab9cecb97b0a4cff"/>
    <p:sldId xmlns:r="http://schemas.openxmlformats.org/officeDocument/2006/relationships" id="268" r:id="R4556bf8e040341f5"/>
    <p:sldId xmlns:r="http://schemas.openxmlformats.org/officeDocument/2006/relationships" id="269" r:id="R1a863dfca55f4aef"/>
    <p:sldId xmlns:r="http://schemas.openxmlformats.org/officeDocument/2006/relationships" id="270" r:id="R90d5e599a129431e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227a397a0d41a1" /><Relationship Type="http://schemas.openxmlformats.org/officeDocument/2006/relationships/slideMaster" Target="/ppt/slideMasters/slideMaster1.xml" Id="R8de5326642414782" /><Relationship Type="http://schemas.openxmlformats.org/officeDocument/2006/relationships/notesMaster" Target="/ppt/notesMasters/notesMaster1.xml" Id="R93f22fc750e1462d" /><Relationship Type="http://schemas.openxmlformats.org/officeDocument/2006/relationships/presProps" Target="/ppt/presProps.xml" Id="Rf20aa0275dd74ec6" /><Relationship Type="http://schemas.openxmlformats.org/officeDocument/2006/relationships/tableStyles" Target="/ppt/tableStyles.xml" Id="R774531635e89461b" /><Relationship Type="http://schemas.openxmlformats.org/officeDocument/2006/relationships/slide" Target="/ppt/slides/slide1.xml" Id="R0b5506ca00ec46d2" /><Relationship Type="http://schemas.openxmlformats.org/officeDocument/2006/relationships/slide" Target="/ppt/slides/slide2.xml" Id="Rbae3060c05184e5f" /><Relationship Type="http://schemas.openxmlformats.org/officeDocument/2006/relationships/slide" Target="/ppt/slides/slide3.xml" Id="R779bad2556ad4cee" /><Relationship Type="http://schemas.openxmlformats.org/officeDocument/2006/relationships/slide" Target="/ppt/slides/slide4.xml" Id="Rdc705b581f974b77" /><Relationship Type="http://schemas.openxmlformats.org/officeDocument/2006/relationships/slide" Target="/ppt/slides/slide5.xml" Id="Rbd6a39b45deb4756" /><Relationship Type="http://schemas.openxmlformats.org/officeDocument/2006/relationships/slide" Target="/ppt/slides/slide6.xml" Id="R50963fbcd9d542e4" /><Relationship Type="http://schemas.openxmlformats.org/officeDocument/2006/relationships/slide" Target="/ppt/slides/slide7.xml" Id="Rfcad3dbb4ea74b44" /><Relationship Type="http://schemas.openxmlformats.org/officeDocument/2006/relationships/slide" Target="/ppt/slides/slide8.xml" Id="R573693532cf44102" /><Relationship Type="http://schemas.openxmlformats.org/officeDocument/2006/relationships/slide" Target="/ppt/slides/slide9.xml" Id="R8682012e97474658" /><Relationship Type="http://schemas.openxmlformats.org/officeDocument/2006/relationships/slide" Target="/ppt/slides/slide10.xml" Id="Rf7b5c585fa7c432f" /><Relationship Type="http://schemas.openxmlformats.org/officeDocument/2006/relationships/slide" Target="/ppt/slides/slide11.xml" Id="R739f133cd6a54eea" /><Relationship Type="http://schemas.openxmlformats.org/officeDocument/2006/relationships/slide" Target="/ppt/slides/slide12.xml" Id="Rab9cecb97b0a4cff" /><Relationship Type="http://schemas.openxmlformats.org/officeDocument/2006/relationships/slide" Target="/ppt/slides/slide13.xml" Id="R4556bf8e040341f5" /><Relationship Type="http://schemas.openxmlformats.org/officeDocument/2006/relationships/slide" Target="/ppt/slides/slide14.xml" Id="R1a863dfca55f4aef" /><Relationship Type="http://schemas.openxmlformats.org/officeDocument/2006/relationships/slide" Target="/ppt/slides/slide15.xml" Id="R90d5e599a129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6523601fae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e6e4b87dd48ba" /><Relationship Type="http://schemas.openxmlformats.org/officeDocument/2006/relationships/notesMaster" Target="/ppt/notesMasters/notesMaster1.xml" Id="Ra0b2f35c33e3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5148fa7904b6c" /><Relationship Type="http://schemas.openxmlformats.org/officeDocument/2006/relationships/notesMaster" Target="/ppt/notesMasters/notesMaster1.xml" Id="R6ade0ac62aa3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f68ba364634d18" /><Relationship Type="http://schemas.openxmlformats.org/officeDocument/2006/relationships/notesMaster" Target="/ppt/notesMasters/notesMaster1.xml" Id="R9185118a98ee43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c452b62bf446c" /><Relationship Type="http://schemas.openxmlformats.org/officeDocument/2006/relationships/notesMaster" Target="/ppt/notesMasters/notesMaster1.xml" Id="R2dfacb1ad89745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c488c17ac34040" /><Relationship Type="http://schemas.openxmlformats.org/officeDocument/2006/relationships/notesMaster" Target="/ppt/notesMasters/notesMaster1.xml" Id="R19fc52b288d842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35552c92d4e1b" /><Relationship Type="http://schemas.openxmlformats.org/officeDocument/2006/relationships/notesMaster" Target="/ppt/notesMasters/notesMaster1.xml" Id="Rf28250e3fa82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d8eb8049b64c48" /><Relationship Type="http://schemas.openxmlformats.org/officeDocument/2006/relationships/notesMaster" Target="/ppt/notesMasters/notesMaster1.xml" Id="R65ed622202dd41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0e739bb3af4e48" /><Relationship Type="http://schemas.openxmlformats.org/officeDocument/2006/relationships/notesMaster" Target="/ppt/notesMasters/notesMaster1.xml" Id="Rf178c46a6b4f4f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af085f5df9491b" /><Relationship Type="http://schemas.openxmlformats.org/officeDocument/2006/relationships/notesMaster" Target="/ppt/notesMasters/notesMaster1.xml" Id="Rdbf9ad3ebb9b4c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4e16a7c424445d" /><Relationship Type="http://schemas.openxmlformats.org/officeDocument/2006/relationships/notesMaster" Target="/ppt/notesMasters/notesMaster1.xml" Id="R343aba52164147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d5e0c8480d4750" /><Relationship Type="http://schemas.openxmlformats.org/officeDocument/2006/relationships/notesMaster" Target="/ppt/notesMasters/notesMaster1.xml" Id="R7603d825530b40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b4ecff6fc942c0" /><Relationship Type="http://schemas.openxmlformats.org/officeDocument/2006/relationships/notesMaster" Target="/ppt/notesMasters/notesMaster1.xml" Id="R59a41bc4095d4e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d3b42a3eb9480e" /><Relationship Type="http://schemas.openxmlformats.org/officeDocument/2006/relationships/notesMaster" Target="/ppt/notesMasters/notesMaster1.xml" Id="R98396ffcdd4a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38c6b0c45a4c16" /><Relationship Type="http://schemas.openxmlformats.org/officeDocument/2006/relationships/notesMaster" Target="/ppt/notesMasters/notesMaster1.xml" Id="Rda00a4444b7a44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917790df6448de" /><Relationship Type="http://schemas.openxmlformats.org/officeDocument/2006/relationships/notesMaster" Target="/ppt/notesMasters/notesMaster1.xml" Id="R8d84243123b24d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41a24b932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714c6d9d834171" /><Relationship Type="http://schemas.openxmlformats.org/officeDocument/2006/relationships/slideLayout" Target="/ppt/slideLayouts/slideLayout1.xml" Id="R803cbe5ec17e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cbe5ec17e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1893ee8094bcb" /><Relationship Type="http://schemas.openxmlformats.org/officeDocument/2006/relationships/image" Target="/ppt/media/image.jpeg" Id="R88e8a97b5e8d40e8" /><Relationship Type="http://schemas.openxmlformats.org/officeDocument/2006/relationships/image" Target="/ppt/media/image2.jpeg" Id="R642ca252369945dd" /><Relationship Type="http://schemas.openxmlformats.org/officeDocument/2006/relationships/notesSlide" Target="/ppt/notesSlides/notesSlide1.xml" Id="R195e6cb20072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2af276b3b4e41" /><Relationship Type="http://schemas.openxmlformats.org/officeDocument/2006/relationships/notesSlide" Target="/ppt/notesSlides/notesSlide2.xml" Id="Re4624d947df0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9eadc1a424638" /><Relationship Type="http://schemas.openxmlformats.org/officeDocument/2006/relationships/notesSlide" Target="/ppt/notesSlides/notesSlide3.xml" Id="R09726258752145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795c849924cdb" /><Relationship Type="http://schemas.openxmlformats.org/officeDocument/2006/relationships/notesSlide" Target="/ppt/notesSlides/notesSlide4.xml" Id="R3c62aa823442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a00933803407c" /><Relationship Type="http://schemas.openxmlformats.org/officeDocument/2006/relationships/image" Target="/ppt/media/image3.jpeg" Id="R561ca5abe6c24a5b" /><Relationship Type="http://schemas.openxmlformats.org/officeDocument/2006/relationships/notesSlide" Target="/ppt/notesSlides/notesSlide5.xml" Id="R447f83104c10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0282992b480a" /><Relationship Type="http://schemas.openxmlformats.org/officeDocument/2006/relationships/image" Target="/ppt/media/image4.jpeg" Id="R9b9f78140fe6460b" /><Relationship Type="http://schemas.openxmlformats.org/officeDocument/2006/relationships/notesSlide" Target="/ppt/notesSlides/notesSlide6.xml" Id="R33edc9e4dcd941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a8b2ec7b421b" /><Relationship Type="http://schemas.openxmlformats.org/officeDocument/2006/relationships/notesSlide" Target="/ppt/notesSlides/notesSlide7.xml" Id="R2b66f38c64764a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d3fac10ef4fc6" /><Relationship Type="http://schemas.openxmlformats.org/officeDocument/2006/relationships/image" Target="/ppt/media/image5.jpeg" Id="R1659b11b067043e0" /><Relationship Type="http://schemas.openxmlformats.org/officeDocument/2006/relationships/notesSlide" Target="/ppt/notesSlides/notesSlide8.xml" Id="R20236c3fa275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b8fe95bc641ca" /><Relationship Type="http://schemas.openxmlformats.org/officeDocument/2006/relationships/image" Target="/ppt/media/image6.jpeg" Id="R3e866a49f1704c99" /><Relationship Type="http://schemas.openxmlformats.org/officeDocument/2006/relationships/notesSlide" Target="/ppt/notesSlides/notesSlide9.xml" Id="R1f1d242c4bd04a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15a03c2644add" /><Relationship Type="http://schemas.openxmlformats.org/officeDocument/2006/relationships/notesSlide" Target="/ppt/notesSlides/notesSlide10.xml" Id="Rf6c35c2fedd54f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6926841a44d51" /><Relationship Type="http://schemas.openxmlformats.org/officeDocument/2006/relationships/image" Target="/ppt/media/image7.jpeg" Id="R4698e1cbfd964ed0" /><Relationship Type="http://schemas.openxmlformats.org/officeDocument/2006/relationships/notesSlide" Target="/ppt/notesSlides/notesSlide11.xml" Id="R5b803f12e80e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9716a414d4cff" /><Relationship Type="http://schemas.openxmlformats.org/officeDocument/2006/relationships/notesSlide" Target="/ppt/notesSlides/notesSlide12.xml" Id="R826930bfaa3649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8a27cc0ea43b7" /><Relationship Type="http://schemas.openxmlformats.org/officeDocument/2006/relationships/notesSlide" Target="/ppt/notesSlides/notesSlide13.xml" Id="R15c27da64c054b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a6c31db8441c7" /><Relationship Type="http://schemas.openxmlformats.org/officeDocument/2006/relationships/notesSlide" Target="/ppt/notesSlides/notesSlide14.xml" Id="Rc9cf03175b424b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7a463a7c4097" /><Relationship Type="http://schemas.openxmlformats.org/officeDocument/2006/relationships/image" Target="/ppt/media/image8.jpeg" Id="Rd417ee88b0584c49" /><Relationship Type="http://schemas.openxmlformats.org/officeDocument/2006/relationships/image" Target="/ppt/media/image9.jpeg" Id="Rac8297b1d90d4b03" /><Relationship Type="http://schemas.openxmlformats.org/officeDocument/2006/relationships/notesSlide" Target="/ppt/notesSlides/notesSlide15.xml" Id="R2a08a8a29fea4a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DEE13-879E-4A7F-BBE4-4A488718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FCA88-6D9C-4B68-BEDC-02AFD8B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0E6CE-5B81-475C-B9B2-19DF74D9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4900C-EA12-45F3-8D43-2ABC502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SMART CLINICAL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4949B-1181-46A5-ADAF-C0ECE1E8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01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4565D-8184-4BF6-B326-F5EB5B31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F7F4"/>
                </a:solidFill>
                <a:latin typeface="Microsoft YaHei"/>
                <a:ea typeface="Microsoft YaHei"/>
                <a:cs typeface="Microsoft YaHei"/>
              </a:defRPr>
            </a:pPr>
            <a:r>
              <a:t>智慧医疗诊疗辅助系统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568FF-26E0-4E64-B119-EBF5FAF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2D1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让一次就诊，从症状输入到结果查看，都有清晰记录。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DD00F-3B04-4C37-8A7C-AF7B27BD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990B6-F80B-47B0-B81E-A69D1DA6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患者问诊  ×  医生接诊  ×  院内协同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38E0-A83C-4433-89DC-84633E92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答辩成员   __________   __________   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CD510-C781-4332-B184-9DDCC91F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学号       __________   __________   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F796-AF26-4772-ADD6-C8827A1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班级 ________   指导教师 ________   答辩日期 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A059A-4D03-4475-AE63-FEE1845F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90A4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课程设计答辩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E9DC9-4E03-4730-8801-6B7F7C6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19125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8a97b5e8d40e8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685800"/>
            <a:ext cx="3028950" cy="1714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E5B8B-03AB-4838-9FB7-FA21F236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26289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a252369945dd"/>
          <a:srcRect xmlns:a="http://schemas.openxmlformats.org/drawingml/2006/main" l="0" t="376" r="0" b="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76525"/>
            <a:ext cx="2495550" cy="1409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FDCC-28D3-4C5B-8298-34BA9E70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1581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REAL PRODUCT UI</a:t>
            </a:r>
          </a:p>
        </p:txBody>
      </p:sp>
    </p:spTree>
    <p:extLst>
      <p:ext uri="{BB962C8B-B14F-4D97-AF65-F5344CB8AC3E}">
        <p14:creationId xmlns:p14="http://schemas.microsoft.com/office/powerpoint/2010/main" val="1790157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111E7-36FB-4E06-851D-C6579530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EC9D6-69FC-412A-A6B9-6221E86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584B6-661D-446D-A032-2E413953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WHY THIS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7FE82-30EB-4185-AB02-6ECF719C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E2728-15AB-46B3-84C3-B2DA5FB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基层诊疗的问题，不只是“有没有系统”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D5A36-0781-40EB-AE61-C7355A9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更关键的是：患者、医生和院内数据是否围绕同一次就诊协同。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299D9-74A0-426C-BBDC-89B0B5D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A0FBA-DFC5-4B3D-96AC-4EB850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5E75F-9D15-47E9-9B47-43CE5CE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0E8EE-6A51-44A3-8536-4D90E90E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信息分散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AE531-A63A-4767-B768-8321A75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症状、预约、病历和结果分布在不同环节，患者需要重复说明。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F0F05-D2DC-477F-B9E8-0D4AED2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93383-0071-40C9-A2B2-B789D9B4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F3481-25E5-4405-B9F8-E4C3505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流程割裂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13D41-5BFF-4937-976E-E6EBE886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医生接诊后的病历、检查和处方缺少统一的完成状态。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ACAA5-F963-44D7-B8A2-D2F33368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FDB7F-3488-41C1-8A1F-66AE9B9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13818-5CB0-47A1-A5F2-383E62AE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结果难追踪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A71D0-07E0-44BA-AD9C-D0FE5FEB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患者不知道当前进度，管理员也难以快速看到院内业务状态。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DBEF7-C8E7-4A21-85A3-6DEE6268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问题定义</a:t>
            </a:r>
          </a:p>
        </p:txBody>
      </p:sp>
    </p:spTree>
    <p:extLst>
      <p:ext uri="{BB962C8B-B14F-4D97-AF65-F5344CB8AC3E}">
        <p14:creationId xmlns:p14="http://schemas.microsoft.com/office/powerpoint/2010/main" val="1721534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3EBFE-64D7-49AD-9E17-9FAF8C6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987F7-44F5-4356-AE8F-FF10B91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DBEAA-8B52-4F84-BF4F-4023852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CORE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A1B1B-DE30-496F-9970-08D70C04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9A6A1-3032-4FFB-8F3F-67304BE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一次就诊，一条完整闭环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B543D-734F-4669-971B-098352AC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 将患者动作、医生处理和最终结果串联起来。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EDBC8-6603-4D60-A756-EC8FF489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AE8AC-BEF8-4EBC-8D20-AA1BDB2F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D43F2-1472-408B-9DFA-1E37B91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7009D-7F1B-4377-8B25-B32FDFCC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70EE6-3986-4ADD-8ABA-F00663B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16AAC-42B6-468E-A92A-D3B9BB37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F0735-0982-4CA0-90EC-0EE62BC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10CE0-8D83-499F-9739-E83BFAA1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1EFFD-5698-4BB0-A113-DB2D0C5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AI预问诊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87019-58A1-4FA4-8052-17BA7F2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8D203-61D9-488F-B3ED-7595E6D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B4F9B-19D5-4A7C-9B59-DC8E9D2D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260EB-1098-425D-929B-E3616D8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E254B-5AEE-4714-B8BB-F0DA383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预约挂号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F6DB2-472B-44C1-BA72-CE30493F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DFF2B-682B-40BC-A9D2-6E2DF46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D1DCD-0388-469A-844B-F2DE43C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D5E6B-FEBF-4BA2-9146-16F8B42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0EBF6-6C5E-4F1D-B495-69040E1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开始接诊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C25F2-887B-4BE8-9E79-6BFB45F2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C8133-14F8-4485-8277-730097F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1D561-3A19-4C49-9E84-9EBEC1E5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590A1-A81D-468E-9748-BC9E08A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7333E-DC35-4305-9413-65E375C6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EE5233-FE58-4F65-8957-BFD5EB8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24DD4-31A1-4CF0-B26E-D936CF6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30EC7-EAED-4574-8601-50688D41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8C5E86-A762-4D5D-AA89-02FA8224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DE70D-BBC9-461C-8789-74F52F0F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检查处方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21D8D8-3E34-427B-8AC7-34F9F32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219462-B803-4E65-A614-46376347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7453D7-49B2-4778-BBBF-7EC2EE62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3DE66-58E3-473D-AF95-64293CC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9347B1-3A1D-42CF-86B6-3476171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结果查看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5E236-1B5F-45FA-BB03-67746EAA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164FB3-B55F-4DDB-B5F9-CF09BE66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患者发起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850752-97A0-445B-B197-A565D69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医生处理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45D180-F6B0-4AE3-BCC7-5C0518A1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562350"/>
            <a:ext cx="15144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患者查看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A43647-1177-4B18-917F-4D6F2A7A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11244823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9E42D-406B-4B49-BBE5-642818B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8C4FB-58A7-49E4-92F3-6BCBC736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4122D-E320-403C-8474-BCA4CB7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ROLE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53F41-3DB3-47F0-9949-3489A259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0AF61-00C2-4412-8CDF-AAAC79D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三类角色，共享同一条业务主线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A225D-B144-4A50-B140-2981E7F0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功能不同、权限不同，但数据围绕同一次预约保持一致。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2156-AAFE-4D29-A682-F7D6A63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A3D24-D975-4546-B1F4-7E96752E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8F1D9-5C98-4C49-8898-7EFEC84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741EE-1DCA-4F53-A1C0-AC9DEF8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AB47B-F90F-4E42-A653-66C9ABC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预问诊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预约挂号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查看就诊进度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查看病历、处方与检查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08ECB-7326-4655-B26E-711B23C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2E0E3-3C58-4918-831D-A641F8D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89974-2CDC-4060-9523-5790227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E04DC-8431-4892-8ED7-8CEEEA9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管理本人预约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生成并确认病历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录入检查结果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开具处方并完成接诊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C4B3B-732D-4D1A-97F7-5DF2560F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71E3E-4074-43A6-99D3-7BB8D1F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0FE86-82A7-461A-8371-954A7DF4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8D922-6562-42E9-9A96-0F58879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维护患者与医生档案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维护科室与药品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查看全部业务记录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实时汇总院内数据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9AA42-33BA-4E9D-938F-73AE9B5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患者只能查看本人数据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967AA-EE88-4EED-BA87-28DF510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76725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医生处理分配给自己的预约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2B70C-6BDD-4E53-8E0B-36753670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76725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管理员负责院内维护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5847D-88E1-465B-A73E-95481ACA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角色与权限</a:t>
            </a:r>
          </a:p>
        </p:txBody>
      </p:sp>
    </p:spTree>
    <p:extLst>
      <p:ext uri="{BB962C8B-B14F-4D97-AF65-F5344CB8AC3E}">
        <p14:creationId xmlns:p14="http://schemas.microsoft.com/office/powerpoint/2010/main" val="13538375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8600F1-607B-4D9A-92AD-E72011D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4038E-93EE-44D1-B3BC-726C365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PATIENT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F158D-257C-47BC-A263-E73FD4E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951D5-7998-4325-B2EB-043C564B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患者端：从健康时间线发起一次就诊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F42A1-9665-4838-88B3-873F818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入口围绕患者任务组织，不要求用户理解后台的数据结构。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DE816-54A4-4C56-8F7B-88F67A4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F691-4C07-42C8-8BA8-D62AC625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610225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ca5abe6c24a5b"/>
          <a:srcRect xmlns:a="http://schemas.openxmlformats.org/drawingml/2006/main" l="0" t="653" r="0" b="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62125"/>
            <a:ext cx="5476875" cy="3076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FCD5B-3326-455C-A771-3A23DA0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043E0-5A1D-4CE2-B772-EBE3200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145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BA8AB-7520-4490-9270-D77CCD56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任务导向入口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B9F98-4F2B-481E-922F-F194B93B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问诊、预约、进度和结果统一呈现。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51AC-C918-4AAC-A5C5-D5A09BE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01902-95A5-4972-A907-84D5CF46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289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79B8C-DB19-4F62-AB80-DAE3C5F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个人数据边界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5B304-05CC-4EF2-86E2-018DD75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病历、处方和检查仅展示本人记录。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90084-18B8-4FDC-87C1-1BE0270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3E01D-7144-4631-9135-5F635C1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D6174-F1AD-4192-A379-0D51C91C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持续健康提醒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68B16-F420-4CE4-981A-7DABA416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将诊疗结果继续连接到复诊建议。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FF45C-9320-403C-A292-482B435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患者端体验</a:t>
            </a:r>
          </a:p>
        </p:txBody>
      </p:sp>
    </p:spTree>
    <p:extLst>
      <p:ext uri="{BB962C8B-B14F-4D97-AF65-F5344CB8AC3E}">
        <p14:creationId xmlns:p14="http://schemas.microsoft.com/office/powerpoint/2010/main" val="14561616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67AD7-8BA3-4060-A0CD-94BDC14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E23D7-0820-48A5-91CA-8F5091F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AI ASSISTED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4C700-4FF2-44DF-BFDE-FB90F1E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CF233-C25A-461A-B78F-5318992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AI 负责整理信息，而不是替代医生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DE350-3A03-41C1-8D55-B4E6C45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结构化输出帮助分诊；诊断和治疗仍由医生确认。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70464-0DF2-49DF-846E-B9A394B8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A63E-EC48-411B-A224-AE36DCF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5419725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f78140fe6460b"/>
          <a:srcRect xmlns:a="http://schemas.openxmlformats.org/drawingml/2006/main" l="0" t="616" r="0" b="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85925"/>
            <a:ext cx="5286375" cy="2971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01A73-51EC-449B-A194-691544D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43075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B5F12-FB6D-4B96-AA78-4CC56C8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28A9D-DDFB-4CD4-91C4-B4D7A8D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192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721F2-516D-46F2-9C57-C673955F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2716B-4F78-46D1-902F-AFF90A8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A965-DDAF-4CDF-9BE0-695858B1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建议科室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982CF-9F66-47A3-AD48-CD8A86D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57525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716E2-D482-479B-B6A1-40C35CC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5277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128A1-D44D-415D-A366-552A54BC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337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风险提示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5B6E5-AD22-4366-9709-1A6BE56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BC68E-0183-4FB4-80C2-40B2F7A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F3AFD-A426-4B91-A961-4134BC2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就诊前建议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130C6-1E19-4237-9090-DBB12B1D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2647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 AI 内容仅供辅助参考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0E4BF-96D9-42E2-85B5-874DADA5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AI 安全边界</a:t>
            </a:r>
          </a:p>
        </p:txBody>
      </p:sp>
    </p:spTree>
    <p:extLst>
      <p:ext uri="{BB962C8B-B14F-4D97-AF65-F5344CB8AC3E}">
        <p14:creationId xmlns:p14="http://schemas.microsoft.com/office/powerpoint/2010/main" val="9623097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CF0AD-4398-414C-A597-ABA067C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75FE1-4558-472E-B62F-38BB6C42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E691E-6451-461C-9EF7-66AB8B0C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7FD04-2195-466B-8469-2089ED33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预约不是一张表，而是业务闭环的起点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14EBA-66AF-4A43-AF8B-64DFF968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患者完成五个输入，后端完成时间、医生和冲突校验。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1D380-ABC9-4B09-BEDF-96C0AEB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146CD-E47C-48F5-87C0-8BD138AC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57C5-52A0-4475-8B27-1011E6A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41E99-09C2-48E5-A733-A532926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科室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E1D76-4DAA-41B1-A388-3F93DF3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内科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8B9C-2305-4FE3-9F71-395DAD3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6B46D-AA59-4E6E-A8E9-952DEBA0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4C880-41A2-4A5F-A576-AEF85A0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D092E-C67C-4EC1-A245-CDF8AFC5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025CF-3A79-494F-82BF-86DA487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张医生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A2331-F909-4C0F-9A75-EFFDCE5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0F31A-F60F-4608-8C14-98E20A0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093E2-16D9-426C-86DD-0AFAE0F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D5487-E52E-47C3-A0A6-B0BA4C34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日期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8D629-9044-44A8-AF2D-F2A13FB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至少明天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A28D3-C8C4-4CC0-A1C4-278053E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CFB3E-A0BB-4919-AB33-CBA37FB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C5957-FC34-4D00-838D-4338E15A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52919-6FBE-4D3A-AC57-C6E169E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1B7CE-58C9-4D4B-BF60-E4F35C3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09:00–10:00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87107-7DC1-4DE0-A6C1-4D3C27D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355D0-17C1-4DCF-994B-7765028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E8AFC-5E92-49ED-8CB0-47255F4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AC30C-0C59-4D39-9092-5DEB518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0E3BC-628C-4FE4-B2D2-B023C97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AI 结果自动带入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865D2-8477-475A-A582-6B573E0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924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0">
            <a:solidFill>
              <a:srgbClr val="102F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51E71B-6029-422C-BF74-8894C354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SERVER 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4B823-0926-4996-9D02-43D1E46A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957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8"/>
          </a:solidFill>
          <a:ln xmlns:a="http://schemas.openxmlformats.org/drawingml/2006/main" w="0">
            <a:solidFill>
              <a:srgbClr val="102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8F1"/>
                </a:solidFill>
                <a:latin typeface="Microsoft YaHei"/>
                <a:ea typeface="Microsoft YaHei"/>
                <a:cs typeface="Microsoft YaHei"/>
              </a:defRPr>
            </a:pPr>
            <a:r>
              <a:t>过去日期禁止预约   ·   同一医生同一时段禁止重复预约   ·   无效医生与科室不能提交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36FA4-4141-4507-B455-8B38F3C3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预约校验</a:t>
            </a:r>
          </a:p>
        </p:txBody>
      </p:sp>
    </p:spTree>
    <p:extLst>
      <p:ext uri="{BB962C8B-B14F-4D97-AF65-F5344CB8AC3E}">
        <p14:creationId xmlns:p14="http://schemas.microsoft.com/office/powerpoint/2010/main" val="5818927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FBCA6-9D20-4408-9350-F73DF2C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91831-5C7C-429B-A171-3E121389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DOCTOR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45105-427E-45D2-8261-76E4FF5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F385C-C734-4163-91A5-73C91DB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医生端：当前患者始终是工作台主角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CAC13-1C15-46AC-9B6D-8F6D5A1D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待接诊、接诊中和已完成状态让医生明确下一步操作。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7EDE4-FC78-4151-9E9D-B09BC52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C7314-942B-4549-8711-3A7AA918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6038850" cy="3457575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9b11b067043e0"/>
          <a:srcRect xmlns:a="http://schemas.openxmlformats.org/drawingml/2006/main" l="0" t="551" r="0" b="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85925"/>
            <a:ext cx="5905500" cy="3324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11174-01BC-43F7-BC21-59A52607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8592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336B8-0EFD-4826-8226-0D91054C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38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02B9-7E29-42F5-A16E-C015BF13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31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当前接诊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CB4BC-FEAA-4B09-97B2-58C49968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患者、症状、日期与时段集中呈现。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DD6AF-D8C7-4808-94D2-4F2E70D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557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6362C-1C46-4450-BE02-4D0B864F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0224E-DDFC-4EFE-B60F-F377D7CB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闭环进度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5ECA0-C7E2-42EB-9B43-D677BC3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AI、病历、检查、处方逐项确认。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0638C-B241-434C-8245-A8632CD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D6EC6-4F0B-4E49-806F-4111566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6330F-5357-43D0-A50A-1972C39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2C0D8-81ED-4AFA-9E48-EEE074A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高风险信息保持突出，但不替代判断。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E5FAB-7C2D-4CA8-AFB2-44C80CB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医生接诊工作台</a:t>
            </a:r>
          </a:p>
        </p:txBody>
      </p:sp>
    </p:spTree>
    <p:extLst>
      <p:ext uri="{BB962C8B-B14F-4D97-AF65-F5344CB8AC3E}">
        <p14:creationId xmlns:p14="http://schemas.microsoft.com/office/powerpoint/2010/main" val="8238382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A7EC2-7448-4317-B2DD-E611A68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04141-DC1E-4358-A78F-232ABD7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CLINICAL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2355-F65D-4393-9323-C458221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01BCD-A3BB-44CB-8FAB-D627D44C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接诊完成之前，四类资料必须形成闭环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12C7F-843B-4186-994E-BEF996F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系统用业务完整性校验，避免产生缺项的就诊记录。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A5534-D233-439E-BAA5-0000686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83781-2D7A-46F5-A9A3-8A741E5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467677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66a49f1704c99"/>
          <a:srcRect xmlns:a="http://schemas.openxmlformats.org/drawingml/2006/main" l="0" t="643" r="0" b="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62125"/>
            <a:ext cx="4543425" cy="2552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70BA3-115A-46F4-A544-09658F95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62125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7316C-DC4F-42CB-A966-03ABDCBF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38325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问诊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DB75B-81F6-48A4-AA75-7980AC2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85975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37D72-4D73-4300-BDDD-ADF8855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62125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6DABD-B272-48C3-A983-A63C2DC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38325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0B295-06B7-4503-9C04-8A739B4E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22C30-8035-43E2-9CE8-72D03D4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53707-6889-490E-9663-D9B30A6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0E18D-9147-446C-9460-8804AAA7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结论录入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2DC6E-384B-4E23-B73A-C616AA4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2CE37-91A0-4A3B-8CF7-DEE58B8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71800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E4C57-561C-4485-A960-247A502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2199D-5C9F-4486-A0F5-92DF5A40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24325"/>
            <a:ext cx="3143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AC966-CF19-4510-A029-328C16DF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四项完成  →  允许结束接诊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141FD-E49D-4E01-9E54-CD7910A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接诊闭环</a:t>
            </a:r>
          </a:p>
        </p:txBody>
      </p:sp>
    </p:spTree>
    <p:extLst>
      <p:ext uri="{BB962C8B-B14F-4D97-AF65-F5344CB8AC3E}">
        <p14:creationId xmlns:p14="http://schemas.microsoft.com/office/powerpoint/2010/main" val="8128645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1C46A-2317-483E-8C34-6018772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D6791-BCF0-4AEA-897D-1D6A8745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RESULT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10342-9154-4EF6-8738-A3C8C0B2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A0A6D-9CC5-4055-9EC0-082C310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接诊结束后，患者看到的是一条结果时间线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1F913-C9BF-4FAB-8ABA-263D09B4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同一份医生数据直接进入患者视图，不需要再次手工整理。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99B10-0B14-4396-93DF-40AA376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54D2B-FAC5-4172-BCC3-C814B5A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C"/>
          </a:solidFill>
          <a:ln xmlns:a="http://schemas.openxmlformats.org/drawingml/2006/main" w="0">
            <a:solidFill>
              <a:srgbClr val="D9E5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6FC3F-E02B-4930-A903-D846161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5D814-2E07-4F1C-AE08-6787137B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53628-1E78-4B11-B04F-9F0CD10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F139C-D3CB-4D2B-A6A3-93CD4FC2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8D6C-2D53-443A-BF3D-F684C10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1AD59-B0DA-4078-8BB6-2315ED1C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F8263-85B4-478B-8F9A-548C8B7F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病历可查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AAFD4-FE0B-4FF7-B1F1-6D4FC5DC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F22DE-FA53-4BDE-BC49-6B1C45C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37BC4-29CC-4BD4-B810-32EDAED5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9C55D-1FE6-42F3-ADFC-597CCE0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检查可查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479FD-95FE-4552-8FAC-0B74213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3EFAB-F69A-46EB-9C7F-9794CF68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CE752-775B-44C1-8B14-026171C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00EB5-AB8A-450A-9D90-FDFE9CC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处方可查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39DDE-2EC9-4868-900E-C243804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用法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5BC9F-16BC-4BB7-A744-EB49F003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DDF94-7D9F-4802-BECC-F1860D4A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B03F2-8A3B-48D6-ABBF-FF9C443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复诊提醒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F3992-58CD-4185-A198-A625900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1D3BB-B3D2-4621-A739-481DFD6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822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DD4B7-355F-4713-AB1F-8B7BEE2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777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预约、病历、检查和处方不是四个孤立页面，而是同一次就诊的连续结果。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32482-6BC5-4341-A774-6DA82845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患者结果交付</a:t>
            </a:r>
          </a:p>
        </p:txBody>
      </p:sp>
    </p:spTree>
    <p:extLst>
      <p:ext uri="{BB962C8B-B14F-4D97-AF65-F5344CB8AC3E}">
        <p14:creationId xmlns:p14="http://schemas.microsoft.com/office/powerpoint/2010/main" val="13101415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7C53C-3132-4575-BAF0-F6483C6F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5A763-4229-477A-9332-ED161A1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3E5AA-1D47-480D-AF01-2FAE772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D183D-665E-40B8-A0BC-DA0EA11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管理员端：实时数据，而不是展示数字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9EB59-5BF0-4518-AE23-77C9488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首页统计和业务动态直接来源于当前预约、病历、检查与库存。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E2F3C-68C5-412A-9CA1-21A0677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5B080-84FF-4A6B-A67B-C510191D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6038850" cy="3457575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8e1cbfd964ed0"/>
          <a:srcRect xmlns:a="http://schemas.openxmlformats.org/drawingml/2006/main" l="0" t="551" r="0" b="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24025"/>
            <a:ext cx="5905500" cy="3324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C5A7D-1D7B-4579-BFFF-6626B7C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2402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EA2D3-477F-4F8A-8893-E87CACC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764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950B3-A0AB-4474-8688-B85486B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实时汇总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03074-B945-40C5-ADCD-94266BA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预约、接诊、病历和检查同步更新。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223AA-D69E-49EC-B2E5-8D405456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747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AF65-760B-4ECD-84FC-B5220C4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D1622-B1B5-4D61-A3A4-BB0F286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CC343-882B-40AA-B93C-FF7D4EE5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患者、医生、科室和药品集中维护。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7D5D-7434-4DE5-A3B8-734F629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9092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DA1BF-874D-49B9-8E67-750863E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43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0A2DA-EF89-4C94-8DC8-D6DC4583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异常关注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D5182-BAB7-4395-81CA-F411D0D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待处理预约和低库存优先展示。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120CA-D5A7-4E5C-80CC-CD5A1707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管理员运营</a:t>
            </a:r>
          </a:p>
        </p:txBody>
      </p:sp>
    </p:spTree>
    <p:extLst>
      <p:ext uri="{BB962C8B-B14F-4D97-AF65-F5344CB8AC3E}">
        <p14:creationId xmlns:p14="http://schemas.microsoft.com/office/powerpoint/2010/main" val="16832356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7B7AB-38A1-4581-B529-499DB4D3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69579-D452-4BD9-A7A5-C889992B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B91B-2F2A-4652-BE32-53A6622A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37593-CB14-4C4E-A6D8-1CFFF4B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架构保持简单，但职责边界清楚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7F5A7-4F91-4D31-B5CB-E38E949D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单体后端降低课程演示风险，前后端仍通过统一 API 解耦。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06D6E-2BE9-435B-8642-C120194D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7A63A-0736-436E-93C6-056DAC95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6E30E-7E1B-45E2-A24C-0E4E5CF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ACDB3-CFA8-4503-ADF2-6601A67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页面与组件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4BBAE-1B27-4CC9-9D65-C28318B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356A6-FE6E-4484-90EF-973A071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Pinia +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A6888-27F7-4696-9689-AB41EDF4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登录态与角色守卫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7C1AB-8D4A-4165-BBA8-81E44996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EAE6E-87CF-4306-9F3F-7B84B32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Spring Boot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BBE06-7E90-47BA-B6BE-8B3D83D9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E3C8E-46EE-49E0-8DE3-D733C9A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575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7A68A-B96E-4747-8797-A1008799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337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3ECFD-52AC-43EA-8534-459A979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81375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72227-FF59-4950-B367-E874B6C3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C6045-74DF-4BCB-8FBB-F9F0DE38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193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JdbcTemplate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3B466-173E-4E5F-9656-6D0873E8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显式 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EC2F6-C58F-4038-81B5-ADB55B47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A74A8-4085-43EE-AB63-734033A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337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MySQL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ECBAC-FA1C-46CF-BA15-DE11A0A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813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medical_system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AB5F9-4D42-4896-A6DF-FDDE727A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1181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93A53-22AA-44D1-B409-34266E8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99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DeepSeek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B7B2F-98A5-43D7-8A35-DCDF5214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在线优先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07559-355A-4455-A234-B29F46C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57525"/>
            <a:ext cx="1181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2CB9B5-C545-4B66-BA5E-84FF2BA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33725"/>
            <a:ext cx="99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本地规则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A4C85-0AAF-4B9C-9C0B-A8A3D00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81375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失败回退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49F6B-00E6-46FE-BC43-C3C3325C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37D5A-646A-4003-8E9D-6489C54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E11C4-0F3F-4A2C-B9D5-76735C8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725E0-93A7-4E74-938A-A47F9A49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B42AE-4C70-4A14-A321-048D2A60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4CDE47-DFB3-4456-B424-C34A53FC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3C51EC-370F-43D7-9F68-B115F151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X-Session-Token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5D036A-7293-4D31-B0F6-617B781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48150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统一响应 code / message /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70069-B59A-47E8-A08B-6805448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技术架构</a:t>
            </a:r>
          </a:p>
        </p:txBody>
      </p:sp>
    </p:spTree>
    <p:extLst>
      <p:ext uri="{BB962C8B-B14F-4D97-AF65-F5344CB8AC3E}">
        <p14:creationId xmlns:p14="http://schemas.microsoft.com/office/powerpoint/2010/main" val="18265703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D1B71-1AA0-46D8-8F86-ABFB635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C3F37-A437-4CF2-B13E-7A1CE80B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27EDD-8A96-4D82-A734-C8814BB1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E5981-B225-49DD-B017-F243F38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 是一次就诊的数据主线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25449-5F79-45D0-8866-8EE6160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预约记录位于中心，向上关联角色，向下关联所有诊疗结果。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A87C2-C872-4A6F-B89D-E4AEBFD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D0EF8-7E1B-4AD3-A3EE-45A55C5E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D0585-F214-42FF-95FA-C90E196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 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5DA5E-736B-4F92-A2E9-4490B179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419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发起预约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D8657-1C83-47AC-9DF4-E3B41D4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348D4-68F7-43B2-BCB5-4D9945F1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 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86C64-71F0-473E-8335-CF3CCB8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419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负责接诊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EAB03-AC9D-4CBF-A938-77226E91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9077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0AE4D-6474-4C9E-8D25-A4944E2D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669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 appointment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BF31F-712C-4C90-8E01-6A6D6A4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14625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AC4F1-1CFD-4D5D-B8CF-D27F9E4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478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07241-5391-469C-8582-20FCA99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240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问诊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DBFA1-EE6E-4626-80BF-0C53EA1B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716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consultation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62FB6-00F7-4B7E-B6CC-B97EEC52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860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4C19A-3BE2-4DBA-99BA-2C7C502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622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D7768-F339-4F93-B4E1-FF9BF463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medical_record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063C5-E247-4A0D-81FB-CAEABD06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F2444-FFBD-4613-8208-4B18476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004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898B0-7912-4C99-BA19-397A85E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480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examination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B7968-3050-4A58-9313-7FADF9B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624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702F4-9912-4A4E-9A3D-E496CA7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386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86A3B-D3AE-4F01-89DD-44336E49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862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prescription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941B8-65C0-42B8-92A7-3C34672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24100"/>
            <a:ext cx="1457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ED0BE6-A789-42BF-AD50-21DBA97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14725"/>
            <a:ext cx="1457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A088A-F9F9-433F-AED4-D638B08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145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DBE8A-1E74-4329-9B6B-727BC504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670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F9F9C-FBC4-4D08-8737-1E16FB9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052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8BBE7-8583-4F84-A68E-4DDC190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434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BDDC8C-F8DB-4E62-8AF7-D9F79142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328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同一个 ID，让三个角色看到同一份业务事实。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299DE-9BC4-4872-BE98-98CE004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数据主线</a:t>
            </a:r>
          </a:p>
        </p:txBody>
      </p:sp>
    </p:spTree>
    <p:extLst>
      <p:ext uri="{BB962C8B-B14F-4D97-AF65-F5344CB8AC3E}">
        <p14:creationId xmlns:p14="http://schemas.microsoft.com/office/powerpoint/2010/main" val="16437106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27D75-FAEA-4358-AF7D-7084266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61DB-C77E-418B-A4A6-69E604E5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D8663-6AE3-4CAE-9531-E91FFABF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C206A-A990-429F-8AFC-631033D2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演示稳定性来自明确的失败处理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F5C0-5F0A-4704-BE0F-FBE2930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关键流程不是“正常时能运行”，而是异常时仍然有确定结果。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1C4BC-668F-49CE-8C42-53190BB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08D67-04AC-417B-BCF4-D6D128D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1C13-1383-447D-8FF5-43642C5E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B0722-8428-4997-86A0-22C5DAE7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角色守卫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6C97F-562D-42F7-9609-BB320529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错误角色访问时回到自己的工作区。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C6737-8F3A-47C6-950E-F62C95E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E1557-71F0-4294-810B-5E59658F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859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112D0-D76F-4431-BAC7-4EA92F2F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573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时段冲突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D4C82-0738-41C3-97B8-FC7A2C7A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1932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医生、日期和时段重复时拒绝预约。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6094B-4801-46C8-91C9-9BDDE65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F434D-A53F-420F-A38A-0D40E2B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638C-CB04-4063-9913-E4FA109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完整性门槛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620AE-80B5-422E-8B0C-B278326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病历、检查和处方未完成时不能结束接诊。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84BE9-5D45-4135-B536-6CD505A8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BEDC9-D4C6-4FE8-B528-D91F048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1C135-C494-413F-AF3B-3392C4F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4802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AI 本地回退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580DA-98B0-4688-A03F-611486B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997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在线调用失败时使用本地规则继续分诊。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3015E-809B-483B-9CC2-0EA9FFD4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07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C"/>
          </a:solidFill>
          <a:ln xmlns:a="http://schemas.openxmlformats.org/drawingml/2006/main" w="0">
            <a:solidFill>
              <a:srgbClr val="D9E5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6914E-C018-411B-B08F-26B2D4F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稳定性设计</a:t>
            </a:r>
          </a:p>
        </p:txBody>
      </p:sp>
    </p:spTree>
    <p:extLst>
      <p:ext uri="{BB962C8B-B14F-4D97-AF65-F5344CB8AC3E}">
        <p14:creationId xmlns:p14="http://schemas.microsoft.com/office/powerpoint/2010/main" val="187695507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2144A-CC35-4F3C-B2AE-A3F95B1D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C4DC7-2AB7-409D-84BB-ADCDF822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50E52-7714-4394-8188-C8E4BCB3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6C48-1944-499F-9CE9-985FD51A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一条业务主线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78C03-49F6-4679-B549-1BF48B46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F6F2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让三类角色完成一次可追踪的诊疗闭环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039FC-D640-4869-BBBD-A9B26870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8991-E6E0-4554-8C9D-14FF9150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102CB-D10A-4B44-AA23-A535ED5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次完整就诊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A7044-F62A-46F1-B66C-EFA0C2B7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50109-1B45-4F7F-A516-F9D6A89F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2ED4A-97DA-4EA9-803D-779D0A2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类协同角色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E29AA-4DD1-4994-B624-86595978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7146B-A159-4C9B-A692-2867D3E8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448F1-779C-4BD7-9A72-D9B44EF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类诊疗资料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785AF-1CEB-4AB2-82FD-643AE90D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09625"/>
            <a:ext cx="22288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ee88b0584c49"/>
          <a:srcRect xmlns:a="http://schemas.openxmlformats.org/drawingml/2006/main" l="0" t="486" r="0" b="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76300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11969-61D3-481C-A57B-D84B785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22288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297b1d90d4b03"/>
          <a:srcRect xmlns:a="http://schemas.openxmlformats.org/drawingml/2006/main" l="0" t="486" r="0" b="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33362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181AB-3FEF-4684-898D-61870CC7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0025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NEXT · 现场演示完整流程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38B5A-17F0-487A-9A23-45DC27D9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1975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AI 预问诊 → 预约 → 接诊 → 病历 / 检查 / 处方 → 患者查看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ADAB-323C-4177-80B2-ED3EDFD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课程设计答辩</a:t>
            </a:r>
          </a:p>
        </p:txBody>
      </p:sp>
    </p:spTree>
    <p:extLst>
      <p:ext uri="{BB962C8B-B14F-4D97-AF65-F5344CB8AC3E}">
        <p14:creationId xmlns:p14="http://schemas.microsoft.com/office/powerpoint/2010/main" val="1650110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2026-06-19T13:07:17.1150000Z</dcterms:created>
  <dcterms:modified xsi:type="dcterms:W3CDTF">2026-06-19T13:07:17.1150000Z</dcterms:modified>
</coreProperties>
</file>